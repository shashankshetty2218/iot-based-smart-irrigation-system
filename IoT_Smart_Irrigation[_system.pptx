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30" r:id="rId1"/>
  </p:sldMasterIdLst>
  <p:notesMasterIdLst>
    <p:notesMasterId r:id="rId17"/>
  </p:notesMasterIdLst>
  <p:sldIdLst>
    <p:sldId id="256" r:id="rId2"/>
    <p:sldId id="286" r:id="rId3"/>
    <p:sldId id="285" r:id="rId4"/>
    <p:sldId id="273" r:id="rId5"/>
    <p:sldId id="274" r:id="rId6"/>
    <p:sldId id="275" r:id="rId7"/>
    <p:sldId id="277" r:id="rId8"/>
    <p:sldId id="278" r:id="rId9"/>
    <p:sldId id="279" r:id="rId10"/>
    <p:sldId id="280" r:id="rId11"/>
    <p:sldId id="281" r:id="rId12"/>
    <p:sldId id="276" r:id="rId13"/>
    <p:sldId id="282" r:id="rId14"/>
    <p:sldId id="283" r:id="rId15"/>
    <p:sldId id="284" r:id="rId16"/>
  </p:sldIdLst>
  <p:sldSz cx="9144000" cy="6858000" type="screen4x3"/>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snapToGrid="0" snapToObjects="1">
      <p:cViewPr varScale="1">
        <p:scale>
          <a:sx n="82" d="100"/>
          <a:sy n="82" d="100"/>
        </p:scale>
        <p:origin x="1474"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shank B M" userId="be11eedc48c197f2" providerId="LiveId" clId="{40932487-3404-4C1A-80F8-83B30E4CE14A}"/>
    <pc:docChg chg="modSld">
      <pc:chgData name="Shashank B M" userId="be11eedc48c197f2" providerId="LiveId" clId="{40932487-3404-4C1A-80F8-83B30E4CE14A}" dt="2025-09-12T16:25:34.070" v="20" actId="20577"/>
      <pc:docMkLst>
        <pc:docMk/>
      </pc:docMkLst>
      <pc:sldChg chg="modSp mod">
        <pc:chgData name="Shashank B M" userId="be11eedc48c197f2" providerId="LiveId" clId="{40932487-3404-4C1A-80F8-83B30E4CE14A}" dt="2025-09-12T16:25:34.070" v="20" actId="20577"/>
        <pc:sldMkLst>
          <pc:docMk/>
          <pc:sldMk cId="0" sldId="256"/>
        </pc:sldMkLst>
        <pc:spChg chg="mod">
          <ac:chgData name="Shashank B M" userId="be11eedc48c197f2" providerId="LiveId" clId="{40932487-3404-4C1A-80F8-83B30E4CE14A}" dt="2025-09-12T16:25:27.384" v="10" actId="20577"/>
          <ac:spMkLst>
            <pc:docMk/>
            <pc:sldMk cId="0" sldId="256"/>
            <ac:spMk id="4" creationId="{E4033151-D935-A0A8-30AD-2921342C0A8B}"/>
          </ac:spMkLst>
        </pc:spChg>
        <pc:spChg chg="mod">
          <ac:chgData name="Shashank B M" userId="be11eedc48c197f2" providerId="LiveId" clId="{40932487-3404-4C1A-80F8-83B30E4CE14A}" dt="2025-09-12T16:25:34.070" v="20" actId="20577"/>
          <ac:spMkLst>
            <pc:docMk/>
            <pc:sldMk cId="0" sldId="256"/>
            <ac:spMk id="25" creationId="{45D3CF3D-C542-717D-606F-E431FD40AC1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25865A69-8F00-4D7C-A571-6724CF61D83B}" type="datetimeFigureOut">
              <a:rPr lang="en-IN" smtClean="0"/>
              <a:t>12-09-2025</a:t>
            </a:fld>
            <a:endParaRPr lang="en-IN"/>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DA1D71D7-C916-48E9-ACD2-9FBE5B5E8D33}" type="slidenum">
              <a:rPr lang="en-IN" smtClean="0"/>
              <a:t>‹#›</a:t>
            </a:fld>
            <a:endParaRPr lang="en-IN"/>
          </a:p>
        </p:txBody>
      </p:sp>
    </p:spTree>
    <p:extLst>
      <p:ext uri="{BB962C8B-B14F-4D97-AF65-F5344CB8AC3E}">
        <p14:creationId xmlns:p14="http://schemas.microsoft.com/office/powerpoint/2010/main" val="25396986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A1D71D7-C916-48E9-ACD2-9FBE5B5E8D33}" type="slidenum">
              <a:rPr lang="en-IN" smtClean="0"/>
              <a:t>1</a:t>
            </a:fld>
            <a:endParaRPr lang="en-IN"/>
          </a:p>
        </p:txBody>
      </p:sp>
    </p:spTree>
    <p:extLst>
      <p:ext uri="{BB962C8B-B14F-4D97-AF65-F5344CB8AC3E}">
        <p14:creationId xmlns:p14="http://schemas.microsoft.com/office/powerpoint/2010/main" val="14644022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6BC29-97F9-E2FD-F250-B427795A6D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BDCE3B-8CD7-BD29-FA96-05992CB893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661598-31D5-0441-384F-E7F16DB5479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86CEB94-80A5-A542-1B10-459E5B9F182E}"/>
              </a:ext>
            </a:extLst>
          </p:cNvPr>
          <p:cNvSpPr>
            <a:spLocks noGrp="1"/>
          </p:cNvSpPr>
          <p:nvPr>
            <p:ph type="sldNum" sz="quarter" idx="5"/>
          </p:nvPr>
        </p:nvSpPr>
        <p:spPr/>
        <p:txBody>
          <a:bodyPr/>
          <a:lstStyle/>
          <a:p>
            <a:fld id="{DA1D71D7-C916-48E9-ACD2-9FBE5B5E8D33}" type="slidenum">
              <a:rPr lang="en-IN" smtClean="0"/>
              <a:t>2</a:t>
            </a:fld>
            <a:endParaRPr lang="en-IN"/>
          </a:p>
        </p:txBody>
      </p:sp>
    </p:spTree>
    <p:extLst>
      <p:ext uri="{BB962C8B-B14F-4D97-AF65-F5344CB8AC3E}">
        <p14:creationId xmlns:p14="http://schemas.microsoft.com/office/powerpoint/2010/main" val="2653045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FBD82-9619-9309-0BDC-8B0D9810D9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005A38-090B-7B32-351E-D9EB67B3BE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14AD38-B822-8F7F-2B63-786D3352192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E37EAFB-E331-046E-6FC0-60FC843E6AB3}"/>
              </a:ext>
            </a:extLst>
          </p:cNvPr>
          <p:cNvSpPr>
            <a:spLocks noGrp="1"/>
          </p:cNvSpPr>
          <p:nvPr>
            <p:ph type="sldNum" sz="quarter" idx="5"/>
          </p:nvPr>
        </p:nvSpPr>
        <p:spPr/>
        <p:txBody>
          <a:bodyPr/>
          <a:lstStyle/>
          <a:p>
            <a:fld id="{DA1D71D7-C916-48E9-ACD2-9FBE5B5E8D33}" type="slidenum">
              <a:rPr lang="en-IN" smtClean="0"/>
              <a:t>3</a:t>
            </a:fld>
            <a:endParaRPr lang="en-IN"/>
          </a:p>
        </p:txBody>
      </p:sp>
    </p:spTree>
    <p:extLst>
      <p:ext uri="{BB962C8B-B14F-4D97-AF65-F5344CB8AC3E}">
        <p14:creationId xmlns:p14="http://schemas.microsoft.com/office/powerpoint/2010/main" val="37470137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E4BAC-9BD7-0CCF-295C-CB33AEC5FB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81D2D8-3914-0D75-78FC-F2E749BF60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86F0DC-8CC3-8125-71B6-BBBAF664B7E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68D767E-0CCE-5AAD-F4F7-EB0072610C1B}"/>
              </a:ext>
            </a:extLst>
          </p:cNvPr>
          <p:cNvSpPr>
            <a:spLocks noGrp="1"/>
          </p:cNvSpPr>
          <p:nvPr>
            <p:ph type="sldNum" sz="quarter" idx="5"/>
          </p:nvPr>
        </p:nvSpPr>
        <p:spPr/>
        <p:txBody>
          <a:bodyPr/>
          <a:lstStyle/>
          <a:p>
            <a:fld id="{DA1D71D7-C916-48E9-ACD2-9FBE5B5E8D33}" type="slidenum">
              <a:rPr lang="en-IN" smtClean="0"/>
              <a:t>4</a:t>
            </a:fld>
            <a:endParaRPr lang="en-IN"/>
          </a:p>
        </p:txBody>
      </p:sp>
    </p:spTree>
    <p:extLst>
      <p:ext uri="{BB962C8B-B14F-4D97-AF65-F5344CB8AC3E}">
        <p14:creationId xmlns:p14="http://schemas.microsoft.com/office/powerpoint/2010/main" val="17205755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629E7-E8E2-D759-85D9-84126D0169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5A5135-EDB1-8616-476F-D8239F0C67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A889D4-10D2-D7AF-0EFE-9E0EB76CC1E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B4BE764-D436-EB5E-07AF-4F8A487AE13E}"/>
              </a:ext>
            </a:extLst>
          </p:cNvPr>
          <p:cNvSpPr>
            <a:spLocks noGrp="1"/>
          </p:cNvSpPr>
          <p:nvPr>
            <p:ph type="sldNum" sz="quarter" idx="5"/>
          </p:nvPr>
        </p:nvSpPr>
        <p:spPr/>
        <p:txBody>
          <a:bodyPr/>
          <a:lstStyle/>
          <a:p>
            <a:fld id="{DA1D71D7-C916-48E9-ACD2-9FBE5B5E8D33}" type="slidenum">
              <a:rPr lang="en-IN" smtClean="0"/>
              <a:t>5</a:t>
            </a:fld>
            <a:endParaRPr lang="en-IN"/>
          </a:p>
        </p:txBody>
      </p:sp>
    </p:spTree>
    <p:extLst>
      <p:ext uri="{BB962C8B-B14F-4D97-AF65-F5344CB8AC3E}">
        <p14:creationId xmlns:p14="http://schemas.microsoft.com/office/powerpoint/2010/main" val="10603956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2310B-0C66-950A-53A2-58BE475560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CEA839-C05A-6271-D05D-CA506030BB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5D7922-CFFA-FA73-337E-88E436B446E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014E9BC-27C2-EE53-B614-7ED6DC229712}"/>
              </a:ext>
            </a:extLst>
          </p:cNvPr>
          <p:cNvSpPr>
            <a:spLocks noGrp="1"/>
          </p:cNvSpPr>
          <p:nvPr>
            <p:ph type="sldNum" sz="quarter" idx="5"/>
          </p:nvPr>
        </p:nvSpPr>
        <p:spPr/>
        <p:txBody>
          <a:bodyPr/>
          <a:lstStyle/>
          <a:p>
            <a:fld id="{DA1D71D7-C916-48E9-ACD2-9FBE5B5E8D33}" type="slidenum">
              <a:rPr lang="en-IN" smtClean="0"/>
              <a:t>6</a:t>
            </a:fld>
            <a:endParaRPr lang="en-IN"/>
          </a:p>
        </p:txBody>
      </p:sp>
    </p:spTree>
    <p:extLst>
      <p:ext uri="{BB962C8B-B14F-4D97-AF65-F5344CB8AC3E}">
        <p14:creationId xmlns:p14="http://schemas.microsoft.com/office/powerpoint/2010/main" val="39734610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0168C-834C-1B13-57AE-40D7E0DED3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1CDE2D-B276-9161-6209-4AE0D341EB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5A84C6-F5D9-3206-B789-49FC65A43F2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3EF769E-1AC8-2B5A-FD8B-B77B6A0ABB51}"/>
              </a:ext>
            </a:extLst>
          </p:cNvPr>
          <p:cNvSpPr>
            <a:spLocks noGrp="1"/>
          </p:cNvSpPr>
          <p:nvPr>
            <p:ph type="sldNum" sz="quarter" idx="5"/>
          </p:nvPr>
        </p:nvSpPr>
        <p:spPr/>
        <p:txBody>
          <a:bodyPr/>
          <a:lstStyle/>
          <a:p>
            <a:fld id="{DA1D71D7-C916-48E9-ACD2-9FBE5B5E8D33}" type="slidenum">
              <a:rPr lang="en-IN" smtClean="0"/>
              <a:t>7</a:t>
            </a:fld>
            <a:endParaRPr lang="en-IN"/>
          </a:p>
        </p:txBody>
      </p:sp>
    </p:spTree>
    <p:extLst>
      <p:ext uri="{BB962C8B-B14F-4D97-AF65-F5344CB8AC3E}">
        <p14:creationId xmlns:p14="http://schemas.microsoft.com/office/powerpoint/2010/main" val="417900311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FDC18-05FB-5C03-70DF-77329B0246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645FCF-A371-B8DA-78BB-4E439A4107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E5C2A3-BAE7-6B95-6E7A-BF33BD4B59F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F0AF258-DAE1-B020-BE0B-F3517EE9383B}"/>
              </a:ext>
            </a:extLst>
          </p:cNvPr>
          <p:cNvSpPr>
            <a:spLocks noGrp="1"/>
          </p:cNvSpPr>
          <p:nvPr>
            <p:ph type="sldNum" sz="quarter" idx="5"/>
          </p:nvPr>
        </p:nvSpPr>
        <p:spPr/>
        <p:txBody>
          <a:bodyPr/>
          <a:lstStyle/>
          <a:p>
            <a:fld id="{DA1D71D7-C916-48E9-ACD2-9FBE5B5E8D33}" type="slidenum">
              <a:rPr lang="en-IN" smtClean="0"/>
              <a:t>8</a:t>
            </a:fld>
            <a:endParaRPr lang="en-IN"/>
          </a:p>
        </p:txBody>
      </p:sp>
    </p:spTree>
    <p:extLst>
      <p:ext uri="{BB962C8B-B14F-4D97-AF65-F5344CB8AC3E}">
        <p14:creationId xmlns:p14="http://schemas.microsoft.com/office/powerpoint/2010/main" val="24520141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B0E38-C140-36BA-2E3A-6604FA264C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623AD7-D58C-5226-54C5-9F281E34AA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EF9E7F-D770-2778-B29F-94D77F2900B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515E7F8-4727-FED1-D156-A4137B56EA83}"/>
              </a:ext>
            </a:extLst>
          </p:cNvPr>
          <p:cNvSpPr>
            <a:spLocks noGrp="1"/>
          </p:cNvSpPr>
          <p:nvPr>
            <p:ph type="sldNum" sz="quarter" idx="5"/>
          </p:nvPr>
        </p:nvSpPr>
        <p:spPr/>
        <p:txBody>
          <a:bodyPr/>
          <a:lstStyle/>
          <a:p>
            <a:fld id="{DA1D71D7-C916-48E9-ACD2-9FBE5B5E8D33}" type="slidenum">
              <a:rPr lang="en-IN" smtClean="0"/>
              <a:t>9</a:t>
            </a:fld>
            <a:endParaRPr lang="en-IN"/>
          </a:p>
        </p:txBody>
      </p:sp>
    </p:spTree>
    <p:extLst>
      <p:ext uri="{BB962C8B-B14F-4D97-AF65-F5344CB8AC3E}">
        <p14:creationId xmlns:p14="http://schemas.microsoft.com/office/powerpoint/2010/main" val="25688546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003FCF-5CEE-C02C-9AA0-E333C619BB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1F4FB1-8F4C-A192-7700-F6DA3446AB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41ECCF-07A8-9E85-D7BC-248BE995020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852C556-DC69-3A4D-6082-6B10F739E436}"/>
              </a:ext>
            </a:extLst>
          </p:cNvPr>
          <p:cNvSpPr>
            <a:spLocks noGrp="1"/>
          </p:cNvSpPr>
          <p:nvPr>
            <p:ph type="sldNum" sz="quarter" idx="5"/>
          </p:nvPr>
        </p:nvSpPr>
        <p:spPr/>
        <p:txBody>
          <a:bodyPr/>
          <a:lstStyle/>
          <a:p>
            <a:fld id="{DA1D71D7-C916-48E9-ACD2-9FBE5B5E8D33}" type="slidenum">
              <a:rPr lang="en-IN" smtClean="0"/>
              <a:t>10</a:t>
            </a:fld>
            <a:endParaRPr lang="en-IN"/>
          </a:p>
        </p:txBody>
      </p:sp>
    </p:spTree>
    <p:extLst>
      <p:ext uri="{BB962C8B-B14F-4D97-AF65-F5344CB8AC3E}">
        <p14:creationId xmlns:p14="http://schemas.microsoft.com/office/powerpoint/2010/main" val="27067654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907F8-9F18-B2CB-7E64-EC909A8FF1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65B055-5FF2-0244-486F-9BCDD1AECF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91A523-5200-A117-F8D3-35DDD39834F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41AE990-055A-3DC5-2458-F5ECAAB03B7C}"/>
              </a:ext>
            </a:extLst>
          </p:cNvPr>
          <p:cNvSpPr>
            <a:spLocks noGrp="1"/>
          </p:cNvSpPr>
          <p:nvPr>
            <p:ph type="sldNum" sz="quarter" idx="5"/>
          </p:nvPr>
        </p:nvSpPr>
        <p:spPr/>
        <p:txBody>
          <a:bodyPr/>
          <a:lstStyle/>
          <a:p>
            <a:fld id="{DA1D71D7-C916-48E9-ACD2-9FBE5B5E8D33}" type="slidenum">
              <a:rPr lang="en-IN" smtClean="0"/>
              <a:t>11</a:t>
            </a:fld>
            <a:endParaRPr lang="en-IN"/>
          </a:p>
        </p:txBody>
      </p:sp>
    </p:spTree>
    <p:extLst>
      <p:ext uri="{BB962C8B-B14F-4D97-AF65-F5344CB8AC3E}">
        <p14:creationId xmlns:p14="http://schemas.microsoft.com/office/powerpoint/2010/main" val="22028456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C3907C-80C2-555C-ADEF-45E51FE145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3A170B-B2F1-DBB0-912B-D98028B0C8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0E6D5C-8F03-97D6-D5AE-04E904391ED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2995877-27F8-236C-0EC5-948272C5106F}"/>
              </a:ext>
            </a:extLst>
          </p:cNvPr>
          <p:cNvSpPr>
            <a:spLocks noGrp="1"/>
          </p:cNvSpPr>
          <p:nvPr>
            <p:ph type="sldNum" sz="quarter" idx="5"/>
          </p:nvPr>
        </p:nvSpPr>
        <p:spPr/>
        <p:txBody>
          <a:bodyPr/>
          <a:lstStyle/>
          <a:p>
            <a:fld id="{DA1D71D7-C916-48E9-ACD2-9FBE5B5E8D33}" type="slidenum">
              <a:rPr lang="en-IN" smtClean="0"/>
              <a:t>12</a:t>
            </a:fld>
            <a:endParaRPr lang="en-IN"/>
          </a:p>
        </p:txBody>
      </p:sp>
    </p:spTree>
    <p:extLst>
      <p:ext uri="{BB962C8B-B14F-4D97-AF65-F5344CB8AC3E}">
        <p14:creationId xmlns:p14="http://schemas.microsoft.com/office/powerpoint/2010/main" val="9584674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E0991-9CD0-9A37-6861-403BAB81D7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7F17E3-4FC2-0508-329F-852674BF68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621B13-94B8-F443-8684-EC39375C27D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8AB88B-3DD0-0B40-F278-DC0DEE93F301}"/>
              </a:ext>
            </a:extLst>
          </p:cNvPr>
          <p:cNvSpPr>
            <a:spLocks noGrp="1"/>
          </p:cNvSpPr>
          <p:nvPr>
            <p:ph type="sldNum" sz="quarter" idx="5"/>
          </p:nvPr>
        </p:nvSpPr>
        <p:spPr/>
        <p:txBody>
          <a:bodyPr/>
          <a:lstStyle/>
          <a:p>
            <a:fld id="{DA1D71D7-C916-48E9-ACD2-9FBE5B5E8D33}" type="slidenum">
              <a:rPr lang="en-IN" smtClean="0"/>
              <a:t>13</a:t>
            </a:fld>
            <a:endParaRPr lang="en-IN"/>
          </a:p>
        </p:txBody>
      </p:sp>
    </p:spTree>
    <p:extLst>
      <p:ext uri="{BB962C8B-B14F-4D97-AF65-F5344CB8AC3E}">
        <p14:creationId xmlns:p14="http://schemas.microsoft.com/office/powerpoint/2010/main" val="15161830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06726-BDD0-796B-F55F-931CAE440D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9B3B8C-A611-D7DB-EA79-B0462D2DD7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0D490E-1EAB-3E66-52CD-509A2BB2366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95BA43A-49D7-DAF5-5666-2617BEC77F99}"/>
              </a:ext>
            </a:extLst>
          </p:cNvPr>
          <p:cNvSpPr>
            <a:spLocks noGrp="1"/>
          </p:cNvSpPr>
          <p:nvPr>
            <p:ph type="sldNum" sz="quarter" idx="5"/>
          </p:nvPr>
        </p:nvSpPr>
        <p:spPr/>
        <p:txBody>
          <a:bodyPr/>
          <a:lstStyle/>
          <a:p>
            <a:fld id="{DA1D71D7-C916-48E9-ACD2-9FBE5B5E8D33}" type="slidenum">
              <a:rPr lang="en-IN" smtClean="0"/>
              <a:t>14</a:t>
            </a:fld>
            <a:endParaRPr lang="en-IN"/>
          </a:p>
        </p:txBody>
      </p:sp>
    </p:spTree>
    <p:extLst>
      <p:ext uri="{BB962C8B-B14F-4D97-AF65-F5344CB8AC3E}">
        <p14:creationId xmlns:p14="http://schemas.microsoft.com/office/powerpoint/2010/main" val="23405588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56001-90A4-9038-EB6B-C64FE88E7E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034780-DD29-302C-F7BC-9C7E3C5DFA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A0CCD6-DB77-F9FF-294B-FFAEE5A5F83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B9C57E4-18FA-8EE8-66A3-8224D1CC03C8}"/>
              </a:ext>
            </a:extLst>
          </p:cNvPr>
          <p:cNvSpPr>
            <a:spLocks noGrp="1"/>
          </p:cNvSpPr>
          <p:nvPr>
            <p:ph type="sldNum" sz="quarter" idx="5"/>
          </p:nvPr>
        </p:nvSpPr>
        <p:spPr/>
        <p:txBody>
          <a:bodyPr/>
          <a:lstStyle/>
          <a:p>
            <a:fld id="{DA1D71D7-C916-48E9-ACD2-9FBE5B5E8D33}" type="slidenum">
              <a:rPr lang="en-IN" smtClean="0"/>
              <a:t>15</a:t>
            </a:fld>
            <a:endParaRPr lang="en-IN"/>
          </a:p>
        </p:txBody>
      </p:sp>
    </p:spTree>
    <p:extLst>
      <p:ext uri="{BB962C8B-B14F-4D97-AF65-F5344CB8AC3E}">
        <p14:creationId xmlns:p14="http://schemas.microsoft.com/office/powerpoint/2010/main" val="220749006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ctrTitle"/>
          </p:nvPr>
        </p:nvSpPr>
        <p:spPr>
          <a:xfrm>
            <a:off x="914400" y="1803405"/>
            <a:ext cx="7315200" cy="1825096"/>
          </a:xfrm>
        </p:spPr>
        <p:txBody>
          <a:bodyPr anchor="b">
            <a:normAutofit/>
          </a:bodyPr>
          <a:lstStyle>
            <a:lvl1pPr algn="l">
              <a:defRPr sz="6000"/>
            </a:lvl1pPr>
          </a:lstStyle>
          <a:p>
            <a:r>
              <a:rPr lang="en-US"/>
              <a:t>Click to edit Master title style</a:t>
            </a:r>
            <a:endParaRPr lang="en-US" dirty="0"/>
          </a:p>
        </p:txBody>
      </p:sp>
      <p:sp>
        <p:nvSpPr>
          <p:cNvPr id="3" name="Subtitle 2"/>
          <p:cNvSpPr>
            <a:spLocks noGrp="1"/>
          </p:cNvSpPr>
          <p:nvPr>
            <p:ph type="subTitle" idx="1"/>
          </p:nvPr>
        </p:nvSpPr>
        <p:spPr>
          <a:xfrm>
            <a:off x="914400" y="3632201"/>
            <a:ext cx="73152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5932170" y="4323845"/>
            <a:ext cx="2297429" cy="365125"/>
          </a:xfrm>
        </p:spPr>
        <p:txBody>
          <a:bodyPr/>
          <a:lstStyle/>
          <a:p>
            <a:fld id="{5BCAD085-E8A6-8845-BD4E-CB4CCA059FC4}" type="datetimeFigureOut">
              <a:rPr lang="en-US" smtClean="0"/>
              <a:t>9/12/2025</a:t>
            </a:fld>
            <a:endParaRPr lang="en-US"/>
          </a:p>
        </p:txBody>
      </p:sp>
      <p:sp>
        <p:nvSpPr>
          <p:cNvPr id="5" name="Footer Placeholder 4"/>
          <p:cNvSpPr>
            <a:spLocks noGrp="1"/>
          </p:cNvSpPr>
          <p:nvPr>
            <p:ph type="ftr" sz="quarter" idx="11"/>
          </p:nvPr>
        </p:nvSpPr>
        <p:spPr>
          <a:xfrm>
            <a:off x="914400" y="4323846"/>
            <a:ext cx="4880610" cy="365125"/>
          </a:xfrm>
        </p:spPr>
        <p:txBody>
          <a:bodyPr/>
          <a:lstStyle/>
          <a:p>
            <a:endParaRPr lang="en-US"/>
          </a:p>
        </p:txBody>
      </p:sp>
      <p:sp>
        <p:nvSpPr>
          <p:cNvPr id="6" name="Slide Number Placeholder 5"/>
          <p:cNvSpPr>
            <a:spLocks noGrp="1"/>
          </p:cNvSpPr>
          <p:nvPr>
            <p:ph type="sldNum" sz="quarter" idx="12"/>
          </p:nvPr>
        </p:nvSpPr>
        <p:spPr>
          <a:xfrm>
            <a:off x="6057900" y="1430867"/>
            <a:ext cx="21717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28885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9299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4"/>
            <a:ext cx="7955280" cy="2801935"/>
          </a:xfrm>
        </p:spPr>
        <p:txBody>
          <a:bodyPr anchor="b">
            <a:normAutofit/>
          </a:bodyPr>
          <a:lstStyle>
            <a:lvl1pPr algn="r">
              <a:defRPr sz="4000"/>
            </a:lvl1pPr>
          </a:lstStyle>
          <a:p>
            <a:r>
              <a:rPr lang="en-US"/>
              <a:t>Click to edit Master title style</a:t>
            </a:r>
            <a:endParaRPr lang="en-US" dirty="0"/>
          </a:p>
        </p:txBody>
      </p:sp>
      <p:sp>
        <p:nvSpPr>
          <p:cNvPr id="3" name="Text Placeholder 2"/>
          <p:cNvSpPr>
            <a:spLocks noGrp="1"/>
          </p:cNvSpPr>
          <p:nvPr>
            <p:ph type="body" idx="1"/>
          </p:nvPr>
        </p:nvSpPr>
        <p:spPr>
          <a:xfrm>
            <a:off x="594360" y="3641726"/>
            <a:ext cx="7955281" cy="1354134"/>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9/12/2025</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3"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705419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94360" y="2194560"/>
            <a:ext cx="3910579"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2099" y="2194560"/>
            <a:ext cx="3907540" cy="4069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9/12/2025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629300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71700" y="762000"/>
            <a:ext cx="6377940" cy="1295400"/>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1279" y="2183802"/>
            <a:ext cx="3683659"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94359" y="3132667"/>
            <a:ext cx="3910579"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69018" y="2183802"/>
            <a:ext cx="368062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2098" y="3132667"/>
            <a:ext cx="3907541" cy="31309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9/12/2025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17108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9/12/2025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292365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486535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3086100" cy="1600200"/>
          </a:xfrm>
        </p:spPr>
        <p:txBody>
          <a:bodyPr anchor="b"/>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3886200" y="746760"/>
            <a:ext cx="4663440" cy="551688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94360" y="3124200"/>
            <a:ext cx="308610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462777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60" y="1524000"/>
            <a:ext cx="4075730" cy="1600200"/>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77524" y="751242"/>
            <a:ext cx="3674234" cy="5512398"/>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3124200"/>
            <a:ext cx="4075730" cy="313944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45312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4355" y="4697361"/>
            <a:ext cx="7956482" cy="819355"/>
          </a:xfrm>
        </p:spPr>
        <p:txBody>
          <a:bodyPr anchor="b"/>
          <a:lstStyle>
            <a:lvl1pPr algn="l">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94355" y="977035"/>
            <a:ext cx="7950260" cy="3406972"/>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94360" y="5516716"/>
            <a:ext cx="7955280" cy="746924"/>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632138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594360" y="753533"/>
            <a:ext cx="7955280" cy="2802467"/>
          </a:xfrm>
        </p:spPr>
        <p:txBody>
          <a:bodyPr anchor="ct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800" y="3649134"/>
            <a:ext cx="7772400" cy="1330852"/>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9/12/2025</a:t>
            </a:fld>
            <a:endParaRPr lang="en-US"/>
          </a:p>
        </p:txBody>
      </p:sp>
      <p:sp>
        <p:nvSpPr>
          <p:cNvPr id="6" name="Footer Placeholder 5"/>
          <p:cNvSpPr>
            <a:spLocks noGrp="1"/>
          </p:cNvSpPr>
          <p:nvPr>
            <p:ph type="ftr" sz="quarter" idx="11"/>
          </p:nvPr>
        </p:nvSpPr>
        <p:spPr>
          <a:xfrm>
            <a:off x="594360" y="381001"/>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01811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1" name="Picture 10"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768351" y="753534"/>
            <a:ext cx="7613650" cy="2756234"/>
          </a:xfrm>
        </p:spPr>
        <p:txBody>
          <a:bodyPr anchor="ctr"/>
          <a:lstStyle>
            <a:lvl1pPr algn="l">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77899" y="3509768"/>
            <a:ext cx="7194552"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800" y="4174597"/>
            <a:ext cx="7778752" cy="821265"/>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9/12/2025</a:t>
            </a:fld>
            <a:endParaRPr lang="en-US"/>
          </a:p>
        </p:txBody>
      </p:sp>
      <p:sp>
        <p:nvSpPr>
          <p:cNvPr id="6" name="Footer Placeholder 5"/>
          <p:cNvSpPr>
            <a:spLocks noGrp="1"/>
          </p:cNvSpPr>
          <p:nvPr>
            <p:ph type="ftr" sz="quarter" idx="11"/>
          </p:nvPr>
        </p:nvSpPr>
        <p:spPr>
          <a:xfrm>
            <a:off x="594360" y="379438"/>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
        <p:nvSpPr>
          <p:cNvPr id="13" name="TextBox 12"/>
          <p:cNvSpPr txBox="1"/>
          <p:nvPr/>
        </p:nvSpPr>
        <p:spPr>
          <a:xfrm>
            <a:off x="231458" y="80772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8146733" y="3021330"/>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7292385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Title 1"/>
          <p:cNvSpPr>
            <a:spLocks noGrp="1"/>
          </p:cNvSpPr>
          <p:nvPr>
            <p:ph type="title"/>
          </p:nvPr>
        </p:nvSpPr>
        <p:spPr>
          <a:xfrm>
            <a:off x="685800" y="1124702"/>
            <a:ext cx="7774782" cy="2511835"/>
          </a:xfrm>
        </p:spPr>
        <p:txBody>
          <a:bodyPr anchor="b"/>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792" y="3648316"/>
            <a:ext cx="7773608"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5562176" y="378884"/>
            <a:ext cx="2183130" cy="365125"/>
          </a:xfrm>
        </p:spPr>
        <p:txBody>
          <a:bodyPr/>
          <a:lstStyle>
            <a:lvl1pPr algn="r">
              <a:defRPr/>
            </a:lvl1pPr>
          </a:lstStyle>
          <a:p>
            <a:fld id="{5BCAD085-E8A6-8845-BD4E-CB4CCA059FC4}" type="datetimeFigureOut">
              <a:rPr lang="en-US" smtClean="0"/>
              <a:t>9/12/2025</a:t>
            </a:fld>
            <a:endParaRPr lang="en-US"/>
          </a:p>
        </p:txBody>
      </p:sp>
      <p:sp>
        <p:nvSpPr>
          <p:cNvPr id="6" name="Footer Placeholder 5"/>
          <p:cNvSpPr>
            <a:spLocks noGrp="1"/>
          </p:cNvSpPr>
          <p:nvPr>
            <p:ph type="ftr" sz="quarter" idx="11"/>
          </p:nvPr>
        </p:nvSpPr>
        <p:spPr>
          <a:xfrm>
            <a:off x="594360" y="378884"/>
            <a:ext cx="4830656" cy="365125"/>
          </a:xfrm>
        </p:spPr>
        <p:txBody>
          <a:bodyPr/>
          <a:lstStyle/>
          <a:p>
            <a:endParaRPr lang="en-US"/>
          </a:p>
        </p:txBody>
      </p:sp>
      <p:sp>
        <p:nvSpPr>
          <p:cNvPr id="7" name="Slide Number Placeholder 6"/>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580117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171701" y="762000"/>
            <a:ext cx="6377939" cy="1303867"/>
          </a:xfrm>
        </p:spPr>
        <p:txBody>
          <a:bodyPr/>
          <a:lstStyle/>
          <a:p>
            <a:r>
              <a:rPr lang="en-US"/>
              <a:t>Click to edit Master title style</a:t>
            </a:r>
            <a:endParaRPr lang="en-US" dirty="0"/>
          </a:p>
        </p:txBody>
      </p:sp>
      <p:sp>
        <p:nvSpPr>
          <p:cNvPr id="7" name="Text Placeholder 2"/>
          <p:cNvSpPr>
            <a:spLocks noGrp="1"/>
          </p:cNvSpPr>
          <p:nvPr>
            <p:ph type="body" idx="1"/>
          </p:nvPr>
        </p:nvSpPr>
        <p:spPr>
          <a:xfrm>
            <a:off x="594361" y="2202080"/>
            <a:ext cx="2560320"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9436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02237" y="2201333"/>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00781" y="2904068"/>
            <a:ext cx="2560320" cy="335957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89319" y="2192866"/>
            <a:ext cx="2560320"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89320" y="2904564"/>
            <a:ext cx="2560320" cy="335907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9/12/2025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651597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171702" y="762000"/>
            <a:ext cx="6381984" cy="12954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94360"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94360" y="2331720"/>
            <a:ext cx="2560320" cy="15073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94360" y="4796103"/>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291873"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291872" y="2331720"/>
            <a:ext cx="2560320" cy="1509862"/>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290858" y="4796102"/>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93365" y="4113340"/>
            <a:ext cx="2560320"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993364" y="2331721"/>
            <a:ext cx="2560320" cy="1508919"/>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93272" y="4796100"/>
            <a:ext cx="2560320" cy="1467537"/>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9/12/2025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03089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2194560"/>
            <a:ext cx="7955280" cy="40690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783838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995862"/>
            <a:ext cx="9144000" cy="1862138"/>
          </a:xfrm>
          <a:prstGeom prst="rect">
            <a:avLst/>
          </a:prstGeom>
        </p:spPr>
      </p:pic>
      <p:sp>
        <p:nvSpPr>
          <p:cNvPr id="2" name="Vertical Title 1"/>
          <p:cNvSpPr>
            <a:spLocks noGrp="1"/>
          </p:cNvSpPr>
          <p:nvPr>
            <p:ph type="title" orient="vert"/>
          </p:nvPr>
        </p:nvSpPr>
        <p:spPr>
          <a:xfrm>
            <a:off x="7006590" y="747183"/>
            <a:ext cx="1543050" cy="4248675"/>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94360" y="746126"/>
            <a:ext cx="6278035" cy="424973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562176" y="381001"/>
            <a:ext cx="2183130" cy="365125"/>
          </a:xfrm>
        </p:spPr>
        <p:txBody>
          <a:bodyPr/>
          <a:lstStyle>
            <a:lvl1pPr algn="r">
              <a:defRPr/>
            </a:lvl1pPr>
          </a:lstStyle>
          <a:p>
            <a:fld id="{5BCAD085-E8A6-8845-BD4E-CB4CCA059FC4}" type="datetimeFigureOut">
              <a:rPr lang="en-US" smtClean="0"/>
              <a:t>9/12/2025</a:t>
            </a:fld>
            <a:endParaRPr lang="en-US"/>
          </a:p>
        </p:txBody>
      </p:sp>
      <p:sp>
        <p:nvSpPr>
          <p:cNvPr id="5" name="Footer Placeholder 4"/>
          <p:cNvSpPr>
            <a:spLocks noGrp="1"/>
          </p:cNvSpPr>
          <p:nvPr>
            <p:ph type="ftr" sz="quarter" idx="11"/>
          </p:nvPr>
        </p:nvSpPr>
        <p:spPr>
          <a:xfrm>
            <a:off x="594360" y="381001"/>
            <a:ext cx="4830656" cy="365125"/>
          </a:xfrm>
        </p:spPr>
        <p:txBody>
          <a:bodyPr/>
          <a:lstStyle/>
          <a:p>
            <a:endParaRPr lang="en-US"/>
          </a:p>
        </p:txBody>
      </p:sp>
      <p:sp>
        <p:nvSpPr>
          <p:cNvPr id="6" name="Slide Number Placeholder 5"/>
          <p:cNvSpPr>
            <a:spLocks noGrp="1"/>
          </p:cNvSpPr>
          <p:nvPr>
            <p:ph type="sldNum" sz="quarter" idx="12"/>
          </p:nvPr>
        </p:nvSpPr>
        <p:spPr>
          <a:xfrm>
            <a:off x="7882466" y="381001"/>
            <a:ext cx="667174"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185214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1081088"/>
          </a:xfrm>
          <a:prstGeom prst="rect">
            <a:avLst/>
          </a:prstGeom>
        </p:spPr>
      </p:pic>
      <p:sp>
        <p:nvSpPr>
          <p:cNvPr id="2" name="Title Placeholder 1"/>
          <p:cNvSpPr>
            <a:spLocks noGrp="1"/>
          </p:cNvSpPr>
          <p:nvPr>
            <p:ph type="title"/>
          </p:nvPr>
        </p:nvSpPr>
        <p:spPr>
          <a:xfrm>
            <a:off x="2171700" y="764373"/>
            <a:ext cx="6377940" cy="129302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94360" y="2194560"/>
            <a:ext cx="7955280" cy="40690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12230" y="6356351"/>
            <a:ext cx="213741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5BCAD085-E8A6-8845-BD4E-CB4CCA059FC4}" type="datetimeFigureOut">
              <a:rPr lang="en-US" smtClean="0"/>
              <a:t>9/12/2025</a:t>
            </a:fld>
            <a:endParaRPr lang="en-US"/>
          </a:p>
        </p:txBody>
      </p:sp>
      <p:sp>
        <p:nvSpPr>
          <p:cNvPr id="5" name="Footer Placeholder 4"/>
          <p:cNvSpPr>
            <a:spLocks noGrp="1"/>
          </p:cNvSpPr>
          <p:nvPr>
            <p:ph type="ftr" sz="quarter" idx="3"/>
          </p:nvPr>
        </p:nvSpPr>
        <p:spPr>
          <a:xfrm>
            <a:off x="594360" y="6355846"/>
            <a:ext cx="568071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72250" y="381001"/>
            <a:ext cx="197739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079752149"/>
      </p:ext>
    </p:extLst>
  </p:cSld>
  <p:clrMap bg1="dk1" tx1="lt1" bg2="dk2" tx2="lt2" accent1="accent1" accent2="accent2" accent3="accent3" accent4="accent4" accent5="accent5" accent6="accent6" hlink="hlink" folHlink="folHlink"/>
  <p:sldLayoutIdLst>
    <p:sldLayoutId id="2147483831" r:id="rId1"/>
    <p:sldLayoutId id="2147483832" r:id="rId2"/>
    <p:sldLayoutId id="2147483833"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 id="2147483842" r:id="rId12"/>
    <p:sldLayoutId id="2147483843" r:id="rId13"/>
    <p:sldLayoutId id="2147483844" r:id="rId14"/>
    <p:sldLayoutId id="2147483845" r:id="rId15"/>
    <p:sldLayoutId id="2147483846" r:id="rId16"/>
    <p:sldLayoutId id="214748384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31000">
              <a:schemeClr val="bg1">
                <a:tint val="98000"/>
                <a:satMod val="130000"/>
                <a:shade val="90000"/>
                <a:lumMod val="103000"/>
              </a:schemeClr>
            </a:gs>
            <a:gs pos="100000">
              <a:schemeClr val="bg1">
                <a:shade val="63000"/>
                <a:satMod val="120000"/>
                <a:alpha val="82000"/>
              </a:schemeClr>
            </a:gs>
          </a:gsLst>
          <a:lin ang="5400000" scaled="0"/>
        </a:gradFill>
        <a:effectLst/>
      </p:bgPr>
    </p:bg>
    <p:spTree>
      <p:nvGrpSpPr>
        <p:cNvPr id="1" name=""/>
        <p:cNvGrpSpPr/>
        <p:nvPr/>
      </p:nvGrpSpPr>
      <p:grpSpPr>
        <a:xfrm>
          <a:off x="0" y="0"/>
          <a:ext cx="0" cy="0"/>
          <a:chOff x="0" y="0"/>
          <a:chExt cx="0" cy="0"/>
        </a:xfrm>
      </p:grpSpPr>
      <p:pic>
        <p:nvPicPr>
          <p:cNvPr id="10" name="RIT logo.jpeg" descr="RIT logo.jpeg">
            <a:extLst>
              <a:ext uri="{FF2B5EF4-FFF2-40B4-BE49-F238E27FC236}">
                <a16:creationId xmlns:a16="http://schemas.microsoft.com/office/drawing/2014/main" id="{ADA28298-51D8-E519-5AB5-BD879FD0D62B}"/>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a:stretch>
            <a:fillRect/>
          </a:stretch>
        </p:blipFill>
        <p:spPr bwMode="auto">
          <a:xfrm>
            <a:off x="129443" y="218039"/>
            <a:ext cx="1418942" cy="120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pic>
      <p:pic>
        <p:nvPicPr>
          <p:cNvPr id="13" name="AIML logo.jpeg" descr="AIML logo.jpeg">
            <a:extLst>
              <a:ext uri="{FF2B5EF4-FFF2-40B4-BE49-F238E27FC236}">
                <a16:creationId xmlns:a16="http://schemas.microsoft.com/office/drawing/2014/main" id="{B15068B2-659A-009F-B528-563669413DF1}"/>
              </a:ext>
            </a:extLst>
          </p:cNvPr>
          <p:cNvPicPr>
            <a:picLocks noChangeAspect="1"/>
          </p:cNvPicPr>
          <p:nvPr/>
        </p:nvPicPr>
        <p:blipFill>
          <a:blip r:embed="rId5"/>
          <a:srcRect l="3972" t="6152" r="3913" b="3323"/>
          <a:stretch>
            <a:fillRect/>
          </a:stretch>
        </p:blipFill>
        <p:spPr>
          <a:xfrm>
            <a:off x="7722485" y="282315"/>
            <a:ext cx="1145769" cy="1201987"/>
          </a:xfrm>
          <a:custGeom>
            <a:avLst/>
            <a:gdLst/>
            <a:ahLst/>
            <a:cxnLst>
              <a:cxn ang="0">
                <a:pos x="wd2" y="hd2"/>
              </a:cxn>
              <a:cxn ang="5400000">
                <a:pos x="wd2" y="hd2"/>
              </a:cxn>
              <a:cxn ang="10800000">
                <a:pos x="wd2" y="hd2"/>
              </a:cxn>
              <a:cxn ang="16200000">
                <a:pos x="wd2" y="hd2"/>
              </a:cxn>
            </a:cxnLst>
            <a:rect l="0" t="0" r="r" b="b"/>
            <a:pathLst>
              <a:path w="21599" h="21597" extrusionOk="0">
                <a:moveTo>
                  <a:pt x="10779" y="0"/>
                </a:moveTo>
                <a:cubicBezTo>
                  <a:pt x="10269" y="-1"/>
                  <a:pt x="9758" y="11"/>
                  <a:pt x="9633" y="35"/>
                </a:cubicBezTo>
                <a:cubicBezTo>
                  <a:pt x="9538" y="53"/>
                  <a:pt x="9273" y="99"/>
                  <a:pt x="9044" y="136"/>
                </a:cubicBezTo>
                <a:cubicBezTo>
                  <a:pt x="8816" y="173"/>
                  <a:pt x="8551" y="230"/>
                  <a:pt x="8456" y="260"/>
                </a:cubicBezTo>
                <a:cubicBezTo>
                  <a:pt x="8361" y="291"/>
                  <a:pt x="8208" y="327"/>
                  <a:pt x="8113" y="342"/>
                </a:cubicBezTo>
                <a:cubicBezTo>
                  <a:pt x="8017" y="356"/>
                  <a:pt x="7856" y="403"/>
                  <a:pt x="7756" y="447"/>
                </a:cubicBezTo>
                <a:cubicBezTo>
                  <a:pt x="7655" y="490"/>
                  <a:pt x="7536" y="524"/>
                  <a:pt x="7488" y="524"/>
                </a:cubicBezTo>
                <a:cubicBezTo>
                  <a:pt x="7440" y="524"/>
                  <a:pt x="7358" y="548"/>
                  <a:pt x="7306" y="579"/>
                </a:cubicBezTo>
                <a:cubicBezTo>
                  <a:pt x="7255" y="609"/>
                  <a:pt x="7132" y="656"/>
                  <a:pt x="7032" y="683"/>
                </a:cubicBezTo>
                <a:cubicBezTo>
                  <a:pt x="6932" y="711"/>
                  <a:pt x="6841" y="749"/>
                  <a:pt x="6830" y="769"/>
                </a:cubicBezTo>
                <a:cubicBezTo>
                  <a:pt x="6820" y="788"/>
                  <a:pt x="6745" y="826"/>
                  <a:pt x="6665" y="850"/>
                </a:cubicBezTo>
                <a:cubicBezTo>
                  <a:pt x="6535" y="889"/>
                  <a:pt x="6389" y="956"/>
                  <a:pt x="5984" y="1161"/>
                </a:cubicBezTo>
                <a:cubicBezTo>
                  <a:pt x="5918" y="1195"/>
                  <a:pt x="5709" y="1315"/>
                  <a:pt x="5518" y="1429"/>
                </a:cubicBezTo>
                <a:cubicBezTo>
                  <a:pt x="5328" y="1543"/>
                  <a:pt x="5109" y="1671"/>
                  <a:pt x="5033" y="1716"/>
                </a:cubicBezTo>
                <a:cubicBezTo>
                  <a:pt x="4957" y="1761"/>
                  <a:pt x="4822" y="1860"/>
                  <a:pt x="4732" y="1934"/>
                </a:cubicBezTo>
                <a:cubicBezTo>
                  <a:pt x="4642" y="2008"/>
                  <a:pt x="4559" y="2070"/>
                  <a:pt x="4550" y="2070"/>
                </a:cubicBezTo>
                <a:cubicBezTo>
                  <a:pt x="4484" y="2070"/>
                  <a:pt x="3481" y="2937"/>
                  <a:pt x="3202" y="3235"/>
                </a:cubicBezTo>
                <a:cubicBezTo>
                  <a:pt x="2696" y="3775"/>
                  <a:pt x="2040" y="4570"/>
                  <a:pt x="1959" y="4742"/>
                </a:cubicBezTo>
                <a:cubicBezTo>
                  <a:pt x="1942" y="4779"/>
                  <a:pt x="1830" y="4954"/>
                  <a:pt x="1715" y="5126"/>
                </a:cubicBezTo>
                <a:cubicBezTo>
                  <a:pt x="1505" y="5439"/>
                  <a:pt x="1348" y="5712"/>
                  <a:pt x="1246" y="5949"/>
                </a:cubicBezTo>
                <a:cubicBezTo>
                  <a:pt x="1216" y="6019"/>
                  <a:pt x="1159" y="6133"/>
                  <a:pt x="1117" y="6202"/>
                </a:cubicBezTo>
                <a:cubicBezTo>
                  <a:pt x="1075" y="6271"/>
                  <a:pt x="1041" y="6355"/>
                  <a:pt x="1041" y="6388"/>
                </a:cubicBezTo>
                <a:cubicBezTo>
                  <a:pt x="1041" y="6421"/>
                  <a:pt x="1016" y="6469"/>
                  <a:pt x="988" y="6497"/>
                </a:cubicBezTo>
                <a:cubicBezTo>
                  <a:pt x="959" y="6525"/>
                  <a:pt x="935" y="6570"/>
                  <a:pt x="935" y="6598"/>
                </a:cubicBezTo>
                <a:cubicBezTo>
                  <a:pt x="935" y="6626"/>
                  <a:pt x="897" y="6718"/>
                  <a:pt x="849" y="6800"/>
                </a:cubicBezTo>
                <a:cubicBezTo>
                  <a:pt x="801" y="6882"/>
                  <a:pt x="763" y="6982"/>
                  <a:pt x="763" y="7021"/>
                </a:cubicBezTo>
                <a:cubicBezTo>
                  <a:pt x="763" y="7060"/>
                  <a:pt x="730" y="7162"/>
                  <a:pt x="690" y="7250"/>
                </a:cubicBezTo>
                <a:cubicBezTo>
                  <a:pt x="588" y="7482"/>
                  <a:pt x="466" y="7873"/>
                  <a:pt x="436" y="8062"/>
                </a:cubicBezTo>
                <a:cubicBezTo>
                  <a:pt x="422" y="8151"/>
                  <a:pt x="397" y="8244"/>
                  <a:pt x="380" y="8268"/>
                </a:cubicBezTo>
                <a:cubicBezTo>
                  <a:pt x="363" y="8292"/>
                  <a:pt x="328" y="8448"/>
                  <a:pt x="300" y="8613"/>
                </a:cubicBezTo>
                <a:cubicBezTo>
                  <a:pt x="273" y="8779"/>
                  <a:pt x="233" y="8970"/>
                  <a:pt x="211" y="9037"/>
                </a:cubicBezTo>
                <a:cubicBezTo>
                  <a:pt x="189" y="9104"/>
                  <a:pt x="156" y="9311"/>
                  <a:pt x="138" y="9495"/>
                </a:cubicBezTo>
                <a:cubicBezTo>
                  <a:pt x="121" y="9679"/>
                  <a:pt x="81" y="9934"/>
                  <a:pt x="53" y="10062"/>
                </a:cubicBezTo>
                <a:cubicBezTo>
                  <a:pt x="16" y="10227"/>
                  <a:pt x="-1" y="10674"/>
                  <a:pt x="0" y="11130"/>
                </a:cubicBezTo>
                <a:cubicBezTo>
                  <a:pt x="0" y="11586"/>
                  <a:pt x="19" y="12051"/>
                  <a:pt x="56" y="12248"/>
                </a:cubicBezTo>
                <a:cubicBezTo>
                  <a:pt x="85" y="12405"/>
                  <a:pt x="123" y="12679"/>
                  <a:pt x="138" y="12858"/>
                </a:cubicBezTo>
                <a:cubicBezTo>
                  <a:pt x="168" y="13199"/>
                  <a:pt x="320" y="13948"/>
                  <a:pt x="376" y="14031"/>
                </a:cubicBezTo>
                <a:cubicBezTo>
                  <a:pt x="395" y="14057"/>
                  <a:pt x="419" y="14143"/>
                  <a:pt x="433" y="14221"/>
                </a:cubicBezTo>
                <a:cubicBezTo>
                  <a:pt x="459" y="14371"/>
                  <a:pt x="550" y="14655"/>
                  <a:pt x="661" y="14936"/>
                </a:cubicBezTo>
                <a:cubicBezTo>
                  <a:pt x="697" y="15028"/>
                  <a:pt x="727" y="15120"/>
                  <a:pt x="727" y="15142"/>
                </a:cubicBezTo>
                <a:cubicBezTo>
                  <a:pt x="727" y="15201"/>
                  <a:pt x="1065" y="15965"/>
                  <a:pt x="1143" y="16081"/>
                </a:cubicBezTo>
                <a:cubicBezTo>
                  <a:pt x="1180" y="16137"/>
                  <a:pt x="1212" y="16197"/>
                  <a:pt x="1212" y="16217"/>
                </a:cubicBezTo>
                <a:cubicBezTo>
                  <a:pt x="1212" y="16238"/>
                  <a:pt x="1240" y="16304"/>
                  <a:pt x="1275" y="16365"/>
                </a:cubicBezTo>
                <a:cubicBezTo>
                  <a:pt x="1311" y="16425"/>
                  <a:pt x="1418" y="16613"/>
                  <a:pt x="1510" y="16780"/>
                </a:cubicBezTo>
                <a:cubicBezTo>
                  <a:pt x="1602" y="16948"/>
                  <a:pt x="1733" y="17169"/>
                  <a:pt x="1801" y="17270"/>
                </a:cubicBezTo>
                <a:cubicBezTo>
                  <a:pt x="1869" y="17370"/>
                  <a:pt x="1963" y="17526"/>
                  <a:pt x="2012" y="17615"/>
                </a:cubicBezTo>
                <a:cubicBezTo>
                  <a:pt x="2061" y="17705"/>
                  <a:pt x="2175" y="17866"/>
                  <a:pt x="2263" y="17973"/>
                </a:cubicBezTo>
                <a:cubicBezTo>
                  <a:pt x="2352" y="18079"/>
                  <a:pt x="2422" y="18174"/>
                  <a:pt x="2422" y="18182"/>
                </a:cubicBezTo>
                <a:cubicBezTo>
                  <a:pt x="2422" y="18270"/>
                  <a:pt x="3664" y="19577"/>
                  <a:pt x="3935" y="19775"/>
                </a:cubicBezTo>
                <a:cubicBezTo>
                  <a:pt x="3988" y="19813"/>
                  <a:pt x="4065" y="19878"/>
                  <a:pt x="4107" y="19922"/>
                </a:cubicBezTo>
                <a:cubicBezTo>
                  <a:pt x="4149" y="19966"/>
                  <a:pt x="4213" y="20022"/>
                  <a:pt x="4249" y="20046"/>
                </a:cubicBezTo>
                <a:cubicBezTo>
                  <a:pt x="4286" y="20071"/>
                  <a:pt x="4402" y="20158"/>
                  <a:pt x="4504" y="20237"/>
                </a:cubicBezTo>
                <a:cubicBezTo>
                  <a:pt x="4606" y="20315"/>
                  <a:pt x="4714" y="20397"/>
                  <a:pt x="4745" y="20419"/>
                </a:cubicBezTo>
                <a:cubicBezTo>
                  <a:pt x="4776" y="20441"/>
                  <a:pt x="4875" y="20517"/>
                  <a:pt x="4963" y="20590"/>
                </a:cubicBezTo>
                <a:cubicBezTo>
                  <a:pt x="5052" y="20663"/>
                  <a:pt x="5131" y="20722"/>
                  <a:pt x="5142" y="20722"/>
                </a:cubicBezTo>
                <a:cubicBezTo>
                  <a:pt x="5170" y="20722"/>
                  <a:pt x="5398" y="20839"/>
                  <a:pt x="5542" y="20928"/>
                </a:cubicBezTo>
                <a:cubicBezTo>
                  <a:pt x="5727" y="21042"/>
                  <a:pt x="6166" y="21204"/>
                  <a:pt x="6374" y="21235"/>
                </a:cubicBezTo>
                <a:cubicBezTo>
                  <a:pt x="6473" y="21249"/>
                  <a:pt x="6641" y="21285"/>
                  <a:pt x="6744" y="21316"/>
                </a:cubicBezTo>
                <a:cubicBezTo>
                  <a:pt x="6989" y="21389"/>
                  <a:pt x="7296" y="21386"/>
                  <a:pt x="7574" y="21309"/>
                </a:cubicBezTo>
                <a:cubicBezTo>
                  <a:pt x="7819" y="21241"/>
                  <a:pt x="8211" y="21279"/>
                  <a:pt x="8420" y="21390"/>
                </a:cubicBezTo>
                <a:cubicBezTo>
                  <a:pt x="8480" y="21422"/>
                  <a:pt x="8613" y="21461"/>
                  <a:pt x="8717" y="21476"/>
                </a:cubicBezTo>
                <a:cubicBezTo>
                  <a:pt x="8935" y="21506"/>
                  <a:pt x="9029" y="21523"/>
                  <a:pt x="9200" y="21569"/>
                </a:cubicBezTo>
                <a:cubicBezTo>
                  <a:pt x="9266" y="21587"/>
                  <a:pt x="9984" y="21599"/>
                  <a:pt x="10793" y="21596"/>
                </a:cubicBezTo>
                <a:cubicBezTo>
                  <a:pt x="12017" y="21591"/>
                  <a:pt x="12301" y="21581"/>
                  <a:pt x="12488" y="21526"/>
                </a:cubicBezTo>
                <a:cubicBezTo>
                  <a:pt x="12611" y="21490"/>
                  <a:pt x="12824" y="21452"/>
                  <a:pt x="12960" y="21441"/>
                </a:cubicBezTo>
                <a:cubicBezTo>
                  <a:pt x="13113" y="21428"/>
                  <a:pt x="13244" y="21391"/>
                  <a:pt x="13301" y="21347"/>
                </a:cubicBezTo>
                <a:cubicBezTo>
                  <a:pt x="13356" y="21305"/>
                  <a:pt x="13499" y="21267"/>
                  <a:pt x="13658" y="21250"/>
                </a:cubicBezTo>
                <a:cubicBezTo>
                  <a:pt x="13803" y="21235"/>
                  <a:pt x="13967" y="21201"/>
                  <a:pt x="14024" y="21177"/>
                </a:cubicBezTo>
                <a:cubicBezTo>
                  <a:pt x="14082" y="21152"/>
                  <a:pt x="14277" y="21083"/>
                  <a:pt x="14457" y="21025"/>
                </a:cubicBezTo>
                <a:cubicBezTo>
                  <a:pt x="14638" y="20967"/>
                  <a:pt x="14865" y="20895"/>
                  <a:pt x="14960" y="20862"/>
                </a:cubicBezTo>
                <a:cubicBezTo>
                  <a:pt x="15262" y="20757"/>
                  <a:pt x="15649" y="20639"/>
                  <a:pt x="15756" y="20617"/>
                </a:cubicBezTo>
                <a:cubicBezTo>
                  <a:pt x="15813" y="20606"/>
                  <a:pt x="15921" y="20562"/>
                  <a:pt x="15997" y="20520"/>
                </a:cubicBezTo>
                <a:cubicBezTo>
                  <a:pt x="16084" y="20473"/>
                  <a:pt x="16251" y="20437"/>
                  <a:pt x="16447" y="20423"/>
                </a:cubicBezTo>
                <a:cubicBezTo>
                  <a:pt x="16781" y="20400"/>
                  <a:pt x="17030" y="20320"/>
                  <a:pt x="17217" y="20171"/>
                </a:cubicBezTo>
                <a:cubicBezTo>
                  <a:pt x="17281" y="20119"/>
                  <a:pt x="17367" y="20065"/>
                  <a:pt x="17405" y="20050"/>
                </a:cubicBezTo>
                <a:cubicBezTo>
                  <a:pt x="17444" y="20036"/>
                  <a:pt x="17499" y="19996"/>
                  <a:pt x="17531" y="19965"/>
                </a:cubicBezTo>
                <a:cubicBezTo>
                  <a:pt x="17562" y="19933"/>
                  <a:pt x="17675" y="19822"/>
                  <a:pt x="17782" y="19716"/>
                </a:cubicBezTo>
                <a:cubicBezTo>
                  <a:pt x="18127" y="19375"/>
                  <a:pt x="18341" y="19160"/>
                  <a:pt x="18436" y="19056"/>
                </a:cubicBezTo>
                <a:cubicBezTo>
                  <a:pt x="18487" y="19000"/>
                  <a:pt x="18579" y="18900"/>
                  <a:pt x="18644" y="18831"/>
                </a:cubicBezTo>
                <a:cubicBezTo>
                  <a:pt x="18949" y="18507"/>
                  <a:pt x="19622" y="17623"/>
                  <a:pt x="19831" y="17270"/>
                </a:cubicBezTo>
                <a:cubicBezTo>
                  <a:pt x="19980" y="17018"/>
                  <a:pt x="20219" y="16587"/>
                  <a:pt x="20267" y="16489"/>
                </a:cubicBezTo>
                <a:cubicBezTo>
                  <a:pt x="20296" y="16430"/>
                  <a:pt x="20371" y="16295"/>
                  <a:pt x="20432" y="16186"/>
                </a:cubicBezTo>
                <a:cubicBezTo>
                  <a:pt x="20494" y="16078"/>
                  <a:pt x="20544" y="15959"/>
                  <a:pt x="20545" y="15922"/>
                </a:cubicBezTo>
                <a:cubicBezTo>
                  <a:pt x="20545" y="15886"/>
                  <a:pt x="20566" y="15833"/>
                  <a:pt x="20594" y="15806"/>
                </a:cubicBezTo>
                <a:cubicBezTo>
                  <a:pt x="20656" y="15745"/>
                  <a:pt x="20994" y="14954"/>
                  <a:pt x="20994" y="14870"/>
                </a:cubicBezTo>
                <a:cubicBezTo>
                  <a:pt x="20994" y="14836"/>
                  <a:pt x="21032" y="14722"/>
                  <a:pt x="21080" y="14617"/>
                </a:cubicBezTo>
                <a:cubicBezTo>
                  <a:pt x="21127" y="14512"/>
                  <a:pt x="21169" y="14394"/>
                  <a:pt x="21169" y="14353"/>
                </a:cubicBezTo>
                <a:cubicBezTo>
                  <a:pt x="21169" y="14312"/>
                  <a:pt x="21189" y="14243"/>
                  <a:pt x="21215" y="14198"/>
                </a:cubicBezTo>
                <a:cubicBezTo>
                  <a:pt x="21242" y="14153"/>
                  <a:pt x="21275" y="14025"/>
                  <a:pt x="21288" y="13914"/>
                </a:cubicBezTo>
                <a:cubicBezTo>
                  <a:pt x="21301" y="13803"/>
                  <a:pt x="21340" y="13638"/>
                  <a:pt x="21374" y="13545"/>
                </a:cubicBezTo>
                <a:cubicBezTo>
                  <a:pt x="21408" y="13453"/>
                  <a:pt x="21447" y="13261"/>
                  <a:pt x="21460" y="13118"/>
                </a:cubicBezTo>
                <a:cubicBezTo>
                  <a:pt x="21473" y="12976"/>
                  <a:pt x="21511" y="12748"/>
                  <a:pt x="21542" y="12613"/>
                </a:cubicBezTo>
                <a:cubicBezTo>
                  <a:pt x="21589" y="12413"/>
                  <a:pt x="21598" y="12151"/>
                  <a:pt x="21599" y="11130"/>
                </a:cubicBezTo>
                <a:cubicBezTo>
                  <a:pt x="21599" y="9978"/>
                  <a:pt x="21594" y="9866"/>
                  <a:pt x="21523" y="9546"/>
                </a:cubicBezTo>
                <a:cubicBezTo>
                  <a:pt x="21480" y="9356"/>
                  <a:pt x="21443" y="9142"/>
                  <a:pt x="21443" y="9072"/>
                </a:cubicBezTo>
                <a:cubicBezTo>
                  <a:pt x="21443" y="9002"/>
                  <a:pt x="21418" y="8875"/>
                  <a:pt x="21387" y="8788"/>
                </a:cubicBezTo>
                <a:cubicBezTo>
                  <a:pt x="21356" y="8702"/>
                  <a:pt x="21311" y="8513"/>
                  <a:pt x="21285" y="8369"/>
                </a:cubicBezTo>
                <a:cubicBezTo>
                  <a:pt x="21259" y="8225"/>
                  <a:pt x="21221" y="8089"/>
                  <a:pt x="21202" y="8066"/>
                </a:cubicBezTo>
                <a:cubicBezTo>
                  <a:pt x="21183" y="8043"/>
                  <a:pt x="21169" y="7993"/>
                  <a:pt x="21169" y="7953"/>
                </a:cubicBezTo>
                <a:cubicBezTo>
                  <a:pt x="21169" y="7914"/>
                  <a:pt x="21127" y="7784"/>
                  <a:pt x="21080" y="7662"/>
                </a:cubicBezTo>
                <a:cubicBezTo>
                  <a:pt x="21032" y="7540"/>
                  <a:pt x="20994" y="7420"/>
                  <a:pt x="20994" y="7398"/>
                </a:cubicBezTo>
                <a:cubicBezTo>
                  <a:pt x="20994" y="7355"/>
                  <a:pt x="20751" y="6717"/>
                  <a:pt x="20667" y="6540"/>
                </a:cubicBezTo>
                <a:cubicBezTo>
                  <a:pt x="20640" y="6484"/>
                  <a:pt x="20578" y="6339"/>
                  <a:pt x="20528" y="6221"/>
                </a:cubicBezTo>
                <a:cubicBezTo>
                  <a:pt x="20446" y="6029"/>
                  <a:pt x="20074" y="5360"/>
                  <a:pt x="19811" y="4932"/>
                </a:cubicBezTo>
                <a:cubicBezTo>
                  <a:pt x="19455" y="4353"/>
                  <a:pt x="18487" y="3234"/>
                  <a:pt x="17861" y="2676"/>
                </a:cubicBezTo>
                <a:cubicBezTo>
                  <a:pt x="17612" y="2453"/>
                  <a:pt x="17394" y="2272"/>
                  <a:pt x="17379" y="2272"/>
                </a:cubicBezTo>
                <a:cubicBezTo>
                  <a:pt x="17363" y="2272"/>
                  <a:pt x="17324" y="2239"/>
                  <a:pt x="17289" y="2202"/>
                </a:cubicBezTo>
                <a:cubicBezTo>
                  <a:pt x="17255" y="2165"/>
                  <a:pt x="17196" y="2117"/>
                  <a:pt x="17161" y="2093"/>
                </a:cubicBezTo>
                <a:cubicBezTo>
                  <a:pt x="17125" y="2069"/>
                  <a:pt x="17030" y="2001"/>
                  <a:pt x="16949" y="1946"/>
                </a:cubicBezTo>
                <a:cubicBezTo>
                  <a:pt x="16868" y="1890"/>
                  <a:pt x="16733" y="1799"/>
                  <a:pt x="16648" y="1744"/>
                </a:cubicBezTo>
                <a:cubicBezTo>
                  <a:pt x="16479" y="1632"/>
                  <a:pt x="15745" y="1195"/>
                  <a:pt x="15581" y="1111"/>
                </a:cubicBezTo>
                <a:cubicBezTo>
                  <a:pt x="15225" y="927"/>
                  <a:pt x="15047" y="850"/>
                  <a:pt x="14989" y="850"/>
                </a:cubicBezTo>
                <a:cubicBezTo>
                  <a:pt x="14953" y="850"/>
                  <a:pt x="14890" y="821"/>
                  <a:pt x="14851" y="788"/>
                </a:cubicBezTo>
                <a:cubicBezTo>
                  <a:pt x="14811" y="756"/>
                  <a:pt x="14703" y="710"/>
                  <a:pt x="14609" y="683"/>
                </a:cubicBezTo>
                <a:cubicBezTo>
                  <a:pt x="14516" y="657"/>
                  <a:pt x="14400" y="609"/>
                  <a:pt x="14348" y="579"/>
                </a:cubicBezTo>
                <a:cubicBezTo>
                  <a:pt x="14297" y="548"/>
                  <a:pt x="14207" y="524"/>
                  <a:pt x="14150" y="524"/>
                </a:cubicBezTo>
                <a:cubicBezTo>
                  <a:pt x="14093" y="524"/>
                  <a:pt x="13969" y="490"/>
                  <a:pt x="13876" y="447"/>
                </a:cubicBezTo>
                <a:cubicBezTo>
                  <a:pt x="13783" y="403"/>
                  <a:pt x="13587" y="346"/>
                  <a:pt x="13440" y="322"/>
                </a:cubicBezTo>
                <a:cubicBezTo>
                  <a:pt x="13292" y="298"/>
                  <a:pt x="13158" y="270"/>
                  <a:pt x="13139" y="256"/>
                </a:cubicBezTo>
                <a:cubicBezTo>
                  <a:pt x="13120" y="243"/>
                  <a:pt x="12890" y="196"/>
                  <a:pt x="12630" y="155"/>
                </a:cubicBezTo>
                <a:cubicBezTo>
                  <a:pt x="12370" y="114"/>
                  <a:pt x="12056" y="62"/>
                  <a:pt x="11933" y="39"/>
                </a:cubicBezTo>
                <a:cubicBezTo>
                  <a:pt x="11800" y="14"/>
                  <a:pt x="11290" y="1"/>
                  <a:pt x="10779" y="0"/>
                </a:cubicBezTo>
                <a:close/>
                <a:moveTo>
                  <a:pt x="16080" y="6516"/>
                </a:moveTo>
                <a:cubicBezTo>
                  <a:pt x="16153" y="6496"/>
                  <a:pt x="16237" y="6506"/>
                  <a:pt x="16358" y="6536"/>
                </a:cubicBezTo>
                <a:cubicBezTo>
                  <a:pt x="16464" y="6562"/>
                  <a:pt x="16596" y="6592"/>
                  <a:pt x="16652" y="6606"/>
                </a:cubicBezTo>
                <a:cubicBezTo>
                  <a:pt x="16895" y="6664"/>
                  <a:pt x="17369" y="7371"/>
                  <a:pt x="17726" y="8206"/>
                </a:cubicBezTo>
                <a:cubicBezTo>
                  <a:pt x="17797" y="8373"/>
                  <a:pt x="17869" y="8545"/>
                  <a:pt x="17888" y="8586"/>
                </a:cubicBezTo>
                <a:cubicBezTo>
                  <a:pt x="17952" y="8730"/>
                  <a:pt x="18142" y="9427"/>
                  <a:pt x="18268" y="9973"/>
                </a:cubicBezTo>
                <a:cubicBezTo>
                  <a:pt x="18290" y="10068"/>
                  <a:pt x="18308" y="10536"/>
                  <a:pt x="18307" y="11111"/>
                </a:cubicBezTo>
                <a:cubicBezTo>
                  <a:pt x="18307" y="11905"/>
                  <a:pt x="18293" y="12139"/>
                  <a:pt x="18244" y="12353"/>
                </a:cubicBezTo>
                <a:cubicBezTo>
                  <a:pt x="18212" y="12498"/>
                  <a:pt x="18166" y="12716"/>
                  <a:pt x="18142" y="12839"/>
                </a:cubicBezTo>
                <a:cubicBezTo>
                  <a:pt x="18082" y="13149"/>
                  <a:pt x="17993" y="13480"/>
                  <a:pt x="17914" y="13678"/>
                </a:cubicBezTo>
                <a:cubicBezTo>
                  <a:pt x="17877" y="13769"/>
                  <a:pt x="17848" y="13858"/>
                  <a:pt x="17848" y="13876"/>
                </a:cubicBezTo>
                <a:cubicBezTo>
                  <a:pt x="17848" y="13953"/>
                  <a:pt x="17514" y="14678"/>
                  <a:pt x="17336" y="14986"/>
                </a:cubicBezTo>
                <a:cubicBezTo>
                  <a:pt x="17228" y="15173"/>
                  <a:pt x="17116" y="15367"/>
                  <a:pt x="17088" y="15417"/>
                </a:cubicBezTo>
                <a:cubicBezTo>
                  <a:pt x="16947" y="15665"/>
                  <a:pt x="16121" y="16632"/>
                  <a:pt x="15839" y="16881"/>
                </a:cubicBezTo>
                <a:cubicBezTo>
                  <a:pt x="15738" y="16971"/>
                  <a:pt x="15566" y="17149"/>
                  <a:pt x="15459" y="17278"/>
                </a:cubicBezTo>
                <a:cubicBezTo>
                  <a:pt x="15279" y="17493"/>
                  <a:pt x="15252" y="17512"/>
                  <a:pt x="15112" y="17511"/>
                </a:cubicBezTo>
                <a:cubicBezTo>
                  <a:pt x="15028" y="17510"/>
                  <a:pt x="14931" y="17481"/>
                  <a:pt x="14894" y="17448"/>
                </a:cubicBezTo>
                <a:cubicBezTo>
                  <a:pt x="14840" y="17401"/>
                  <a:pt x="14689" y="17390"/>
                  <a:pt x="14143" y="17390"/>
                </a:cubicBezTo>
                <a:cubicBezTo>
                  <a:pt x="13468" y="17390"/>
                  <a:pt x="13462" y="17391"/>
                  <a:pt x="13410" y="17297"/>
                </a:cubicBezTo>
                <a:cubicBezTo>
                  <a:pt x="13381" y="17245"/>
                  <a:pt x="13347" y="17117"/>
                  <a:pt x="13334" y="17013"/>
                </a:cubicBezTo>
                <a:cubicBezTo>
                  <a:pt x="13312" y="16841"/>
                  <a:pt x="13294" y="16809"/>
                  <a:pt x="13122" y="16676"/>
                </a:cubicBezTo>
                <a:cubicBezTo>
                  <a:pt x="13019" y="16595"/>
                  <a:pt x="12940" y="16507"/>
                  <a:pt x="12947" y="16481"/>
                </a:cubicBezTo>
                <a:cubicBezTo>
                  <a:pt x="12954" y="16455"/>
                  <a:pt x="13025" y="16382"/>
                  <a:pt x="13106" y="16318"/>
                </a:cubicBezTo>
                <a:cubicBezTo>
                  <a:pt x="13271" y="16187"/>
                  <a:pt x="13315" y="16089"/>
                  <a:pt x="13291" y="15899"/>
                </a:cubicBezTo>
                <a:cubicBezTo>
                  <a:pt x="13278" y="15795"/>
                  <a:pt x="13237" y="15735"/>
                  <a:pt x="13089" y="15619"/>
                </a:cubicBezTo>
                <a:cubicBezTo>
                  <a:pt x="12929" y="15494"/>
                  <a:pt x="12907" y="15464"/>
                  <a:pt x="12937" y="15398"/>
                </a:cubicBezTo>
                <a:cubicBezTo>
                  <a:pt x="12957" y="15355"/>
                  <a:pt x="13027" y="15289"/>
                  <a:pt x="13096" y="15250"/>
                </a:cubicBezTo>
                <a:cubicBezTo>
                  <a:pt x="13165" y="15212"/>
                  <a:pt x="13254" y="15122"/>
                  <a:pt x="13291" y="15048"/>
                </a:cubicBezTo>
                <a:cubicBezTo>
                  <a:pt x="13339" y="14953"/>
                  <a:pt x="13397" y="14900"/>
                  <a:pt x="13492" y="14870"/>
                </a:cubicBezTo>
                <a:cubicBezTo>
                  <a:pt x="13596" y="14837"/>
                  <a:pt x="13639" y="14795"/>
                  <a:pt x="13674" y="14695"/>
                </a:cubicBezTo>
                <a:cubicBezTo>
                  <a:pt x="13721" y="14564"/>
                  <a:pt x="14221" y="13874"/>
                  <a:pt x="14388" y="13709"/>
                </a:cubicBezTo>
                <a:cubicBezTo>
                  <a:pt x="14461" y="13637"/>
                  <a:pt x="14513" y="13624"/>
                  <a:pt x="14675" y="13635"/>
                </a:cubicBezTo>
                <a:cubicBezTo>
                  <a:pt x="14919" y="13651"/>
                  <a:pt x="14963" y="13591"/>
                  <a:pt x="14884" y="13359"/>
                </a:cubicBezTo>
                <a:cubicBezTo>
                  <a:pt x="14834" y="13214"/>
                  <a:pt x="14835" y="13198"/>
                  <a:pt x="14910" y="13056"/>
                </a:cubicBezTo>
                <a:cubicBezTo>
                  <a:pt x="14954" y="12973"/>
                  <a:pt x="15074" y="12796"/>
                  <a:pt x="15178" y="12660"/>
                </a:cubicBezTo>
                <a:cubicBezTo>
                  <a:pt x="15281" y="12524"/>
                  <a:pt x="15390" y="12352"/>
                  <a:pt x="15416" y="12279"/>
                </a:cubicBezTo>
                <a:cubicBezTo>
                  <a:pt x="15442" y="12207"/>
                  <a:pt x="15474" y="12148"/>
                  <a:pt x="15488" y="12147"/>
                </a:cubicBezTo>
                <a:cubicBezTo>
                  <a:pt x="15537" y="12147"/>
                  <a:pt x="16014" y="11068"/>
                  <a:pt x="16014" y="10959"/>
                </a:cubicBezTo>
                <a:cubicBezTo>
                  <a:pt x="16014" y="10929"/>
                  <a:pt x="16046" y="10797"/>
                  <a:pt x="16087" y="10664"/>
                </a:cubicBezTo>
                <a:cubicBezTo>
                  <a:pt x="16153" y="10442"/>
                  <a:pt x="16161" y="10338"/>
                  <a:pt x="16159" y="9441"/>
                </a:cubicBezTo>
                <a:cubicBezTo>
                  <a:pt x="16158" y="8375"/>
                  <a:pt x="16130" y="8174"/>
                  <a:pt x="15888" y="7413"/>
                </a:cubicBezTo>
                <a:cubicBezTo>
                  <a:pt x="15838" y="7257"/>
                  <a:pt x="15791" y="7054"/>
                  <a:pt x="15783" y="6963"/>
                </a:cubicBezTo>
                <a:cubicBezTo>
                  <a:pt x="15769" y="6818"/>
                  <a:pt x="15780" y="6780"/>
                  <a:pt x="15875" y="6668"/>
                </a:cubicBezTo>
                <a:cubicBezTo>
                  <a:pt x="15945" y="6586"/>
                  <a:pt x="16007" y="6536"/>
                  <a:pt x="16080" y="6516"/>
                </a:cubicBezTo>
                <a:close/>
              </a:path>
            </a:pathLst>
          </a:custGeom>
          <a:ln w="114300">
            <a:solidFill>
              <a:srgbClr val="FFFFFF"/>
            </a:solidFill>
            <a:miter lim="400000"/>
          </a:ln>
        </p:spPr>
      </p:pic>
      <p:sp>
        <p:nvSpPr>
          <p:cNvPr id="17" name="TextBox 16">
            <a:extLst>
              <a:ext uri="{FF2B5EF4-FFF2-40B4-BE49-F238E27FC236}">
                <a16:creationId xmlns:a16="http://schemas.microsoft.com/office/drawing/2014/main" id="{1545A27D-9CE8-F862-3DE0-B8A3A6D5E1F8}"/>
              </a:ext>
            </a:extLst>
          </p:cNvPr>
          <p:cNvSpPr txBox="1"/>
          <p:nvPr/>
        </p:nvSpPr>
        <p:spPr>
          <a:xfrm>
            <a:off x="1981887" y="282315"/>
            <a:ext cx="5449824" cy="584775"/>
          </a:xfrm>
          <a:prstGeom prst="rect">
            <a:avLst/>
          </a:prstGeom>
          <a:noFill/>
        </p:spPr>
        <p:txBody>
          <a:bodyPr wrap="square">
            <a:spAutoFit/>
          </a:bodyPr>
          <a:lstStyle/>
          <a:p>
            <a:pPr algn="ctr"/>
            <a:r>
              <a:rPr lang="en-GB" sz="3200" dirty="0">
                <a:latin typeface="Times New Roman" panose="02020603050405020304" pitchFamily="18" charset="0"/>
                <a:cs typeface="Times New Roman" panose="02020603050405020304" pitchFamily="18" charset="0"/>
              </a:rPr>
              <a:t> </a:t>
            </a:r>
            <a:r>
              <a:rPr lang="en-GB" sz="2800" b="1" dirty="0">
                <a:latin typeface="Times New Roman" panose="02020603050405020304" pitchFamily="18" charset="0"/>
                <a:cs typeface="Times New Roman" panose="02020603050405020304" pitchFamily="18" charset="0"/>
              </a:rPr>
              <a:t>Rajeev Institute of Technology</a:t>
            </a:r>
            <a:endParaRPr lang="en-IN" sz="2800" dirty="0">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B5B8954D-5C09-E1D0-3DB1-AA446660F182}"/>
              </a:ext>
            </a:extLst>
          </p:cNvPr>
          <p:cNvSpPr txBox="1"/>
          <p:nvPr/>
        </p:nvSpPr>
        <p:spPr>
          <a:xfrm>
            <a:off x="1310412" y="883308"/>
            <a:ext cx="6523175" cy="307777"/>
          </a:xfrm>
          <a:prstGeom prst="rect">
            <a:avLst/>
          </a:prstGeom>
          <a:noFill/>
        </p:spPr>
        <p:txBody>
          <a:bodyPr wrap="square">
            <a:spAutoFit/>
          </a:bodyPr>
          <a:lstStyle/>
          <a:p>
            <a:pPr algn="ctr"/>
            <a:r>
              <a:rPr lang="en-GB" sz="1400" b="1" dirty="0">
                <a:latin typeface="Times New Roman" panose="02020603050405020304" pitchFamily="18" charset="0"/>
                <a:cs typeface="Times New Roman" panose="02020603050405020304" pitchFamily="18" charset="0"/>
              </a:rPr>
              <a:t>Plot 1-D, Growth Center, Industrial Area, B-M </a:t>
            </a:r>
            <a:r>
              <a:rPr lang="en-GB" sz="1200" b="1" dirty="0">
                <a:latin typeface="Times New Roman" panose="02020603050405020304" pitchFamily="18" charset="0"/>
                <a:cs typeface="Times New Roman" panose="02020603050405020304" pitchFamily="18" charset="0"/>
              </a:rPr>
              <a:t>Bypass</a:t>
            </a:r>
            <a:r>
              <a:rPr lang="en-GB" sz="1400" b="1" dirty="0">
                <a:latin typeface="Times New Roman" panose="02020603050405020304" pitchFamily="18" charset="0"/>
                <a:cs typeface="Times New Roman" panose="02020603050405020304" pitchFamily="18" charset="0"/>
              </a:rPr>
              <a:t> Road, Hassan ,Karnataka</a:t>
            </a:r>
            <a:endParaRPr lang="en-IN" sz="1400" dirty="0">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DBFF6386-E728-8C4D-2606-BFD4D1BC6551}"/>
              </a:ext>
            </a:extLst>
          </p:cNvPr>
          <p:cNvSpPr txBox="1"/>
          <p:nvPr/>
        </p:nvSpPr>
        <p:spPr>
          <a:xfrm>
            <a:off x="1519199" y="1279083"/>
            <a:ext cx="6314388" cy="369332"/>
          </a:xfrm>
          <a:prstGeom prst="rect">
            <a:avLst/>
          </a:prstGeom>
          <a:noFill/>
        </p:spPr>
        <p:txBody>
          <a:bodyPr wrap="square">
            <a:spAutoFit/>
          </a:bodyPr>
          <a:lstStyle/>
          <a:p>
            <a:pPr algn="ctr" defTabSz="2438338" eaLnBrk="1" fontAlgn="auto">
              <a:spcBef>
                <a:spcPts val="0"/>
              </a:spcBef>
              <a:spcAft>
                <a:spcPts val="0"/>
              </a:spcAft>
              <a:defRPr/>
            </a:pPr>
            <a:r>
              <a:rPr lang="en-US" kern="0" dirty="0">
                <a:solidFill>
                  <a:schemeClr val="tx1"/>
                </a:solidFill>
                <a:latin typeface="Times New Roman" panose="02020603050405020304" pitchFamily="18" charset="0"/>
                <a:cs typeface="Times New Roman" panose="02020603050405020304" pitchFamily="18" charset="0"/>
              </a:rPr>
              <a:t>Department of  Computer Science and Engineering (AI&amp;ML)</a:t>
            </a:r>
          </a:p>
        </p:txBody>
      </p:sp>
      <p:sp>
        <p:nvSpPr>
          <p:cNvPr id="25" name="TextBox 24">
            <a:extLst>
              <a:ext uri="{FF2B5EF4-FFF2-40B4-BE49-F238E27FC236}">
                <a16:creationId xmlns:a16="http://schemas.microsoft.com/office/drawing/2014/main" id="{45D3CF3D-C542-717D-606F-E431FD40AC12}"/>
              </a:ext>
            </a:extLst>
          </p:cNvPr>
          <p:cNvSpPr txBox="1"/>
          <p:nvPr/>
        </p:nvSpPr>
        <p:spPr>
          <a:xfrm>
            <a:off x="563610" y="4333483"/>
            <a:ext cx="1675738" cy="1785104"/>
          </a:xfrm>
          <a:prstGeom prst="rect">
            <a:avLst/>
          </a:prstGeom>
          <a:noFill/>
        </p:spPr>
        <p:txBody>
          <a:bodyPr wrap="square">
            <a:spAutoFit/>
          </a:bodyPr>
          <a:lstStyle/>
          <a:p>
            <a:r>
              <a:rPr lang="en-US" altLang="en-US" sz="2000" b="1" u="sng"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                </a:t>
            </a:r>
            <a:r>
              <a:rPr lang="en-GB" b="1" dirty="0">
                <a:latin typeface="Times New Roman" panose="02020603050405020304" pitchFamily="18" charset="0"/>
                <a:cs typeface="Times New Roman" panose="02020603050405020304" pitchFamily="18" charset="0"/>
              </a:rPr>
              <a:t>    </a:t>
            </a:r>
          </a:p>
          <a:p>
            <a:r>
              <a:rPr lang="en-GB" b="1" dirty="0">
                <a:latin typeface="Times New Roman" panose="02020603050405020304" pitchFamily="18" charset="0"/>
                <a:cs typeface="Times New Roman" panose="02020603050405020304" pitchFamily="18" charset="0"/>
              </a:rPr>
              <a:t>Jeevan HM</a:t>
            </a:r>
          </a:p>
          <a:p>
            <a:r>
              <a:rPr lang="en-GB" b="1" dirty="0">
                <a:latin typeface="Times New Roman" panose="02020603050405020304" pitchFamily="18" charset="0"/>
                <a:cs typeface="Times New Roman" panose="02020603050405020304" pitchFamily="18" charset="0"/>
              </a:rPr>
              <a:t>Sanjay VB                   </a:t>
            </a:r>
            <a:r>
              <a:rPr lang="en-US" altLang="en-US" b="1" dirty="0">
                <a:latin typeface="Times New Roman" panose="02020603050405020304" pitchFamily="18" charset="0"/>
                <a:cs typeface="Times New Roman" panose="02020603050405020304" pitchFamily="18" charset="0"/>
              </a:rPr>
              <a:t> </a:t>
            </a:r>
            <a:r>
              <a:rPr lang="en-GB" altLang="en-US" b="1" dirty="0">
                <a:latin typeface="Times New Roman" panose="02020603050405020304" pitchFamily="18" charset="0"/>
                <a:cs typeface="Times New Roman" panose="02020603050405020304" pitchFamily="18" charset="0"/>
              </a:rPr>
              <a:t>Shashank BM</a:t>
            </a:r>
            <a:r>
              <a:rPr lang="en-US" altLang="en-US" b="1" dirty="0">
                <a:latin typeface="Times New Roman" panose="02020603050405020304" pitchFamily="18" charset="0"/>
                <a:cs typeface="Times New Roman" panose="02020603050405020304" pitchFamily="18" charset="0"/>
              </a:rPr>
              <a:t>           </a:t>
            </a:r>
            <a:endParaRPr lang="en-GB" b="1" dirty="0">
              <a:latin typeface="Times New Roman" panose="02020603050405020304" pitchFamily="18" charset="0"/>
              <a:cs typeface="Times New Roman" panose="02020603050405020304" pitchFamily="18" charset="0"/>
            </a:endParaRPr>
          </a:p>
          <a:p>
            <a:r>
              <a:rPr lang="en-US" altLang="en-US" b="1" dirty="0">
                <a:latin typeface="Times New Roman" panose="02020603050405020304" pitchFamily="18" charset="0"/>
                <a:cs typeface="Times New Roman" panose="02020603050405020304" pitchFamily="18" charset="0"/>
              </a:rPr>
              <a:t>		</a:t>
            </a:r>
          </a:p>
          <a:p>
            <a:r>
              <a:rPr lang="en-US" altLang="en-US" b="1" dirty="0">
                <a:latin typeface="Times New Roman" panose="02020603050405020304" pitchFamily="18" charset="0"/>
                <a:cs typeface="Times New Roman" panose="02020603050405020304" pitchFamily="18" charset="0"/>
              </a:rPr>
              <a:t>		</a:t>
            </a:r>
          </a:p>
        </p:txBody>
      </p:sp>
      <p:sp>
        <p:nvSpPr>
          <p:cNvPr id="29" name="TextBox 28">
            <a:extLst>
              <a:ext uri="{FF2B5EF4-FFF2-40B4-BE49-F238E27FC236}">
                <a16:creationId xmlns:a16="http://schemas.microsoft.com/office/drawing/2014/main" id="{EBF8E3C9-65F6-B9D9-4EF6-5A3B54E08025}"/>
              </a:ext>
            </a:extLst>
          </p:cNvPr>
          <p:cNvSpPr txBox="1"/>
          <p:nvPr/>
        </p:nvSpPr>
        <p:spPr>
          <a:xfrm>
            <a:off x="5692869" y="4207539"/>
            <a:ext cx="3175840" cy="1883657"/>
          </a:xfrm>
          <a:prstGeom prst="rect">
            <a:avLst/>
          </a:prstGeom>
          <a:noFill/>
        </p:spPr>
        <p:txBody>
          <a:bodyPr wrap="square">
            <a:spAutoFit/>
          </a:bodyPr>
          <a:lstStyle/>
          <a:p>
            <a:pPr defTabSz="751205">
              <a:lnSpc>
                <a:spcPct val="150000"/>
              </a:lnSpc>
              <a:defRPr sz="3822" u="sng"/>
            </a:pPr>
            <a:r>
              <a:rPr lang="en-GB" sz="2000" b="1" u="sng" dirty="0">
                <a:latin typeface="Times New Roman" panose="02020603050405020304" pitchFamily="18" charset="0"/>
                <a:cs typeface="Times New Roman" panose="02020603050405020304" pitchFamily="18" charset="0"/>
              </a:rPr>
              <a:t>Under the Guidance of</a:t>
            </a:r>
          </a:p>
          <a:p>
            <a:pPr defTabSz="751205">
              <a:lnSpc>
                <a:spcPct val="150000"/>
              </a:lnSpc>
              <a:defRPr sz="3822"/>
            </a:pPr>
            <a:r>
              <a:rPr lang="en-GB" sz="2000" b="1" dirty="0">
                <a:latin typeface="Times New Roman" panose="02020603050405020304" pitchFamily="18" charset="0"/>
                <a:cs typeface="Times New Roman" panose="02020603050405020304" pitchFamily="18" charset="0"/>
              </a:rPr>
              <a:t>Mr. Lohith D K</a:t>
            </a:r>
          </a:p>
          <a:p>
            <a:pPr defTabSz="751205">
              <a:lnSpc>
                <a:spcPct val="150000"/>
              </a:lnSpc>
              <a:defRPr sz="3822"/>
            </a:pPr>
            <a:r>
              <a:rPr lang="en-GB" sz="2000" b="1" dirty="0">
                <a:latin typeface="Times New Roman" panose="02020603050405020304" pitchFamily="18" charset="0"/>
                <a:cs typeface="Times New Roman" panose="02020603050405020304" pitchFamily="18" charset="0"/>
              </a:rPr>
              <a:t>Assistant Professor  </a:t>
            </a:r>
          </a:p>
          <a:p>
            <a:pPr defTabSz="751205">
              <a:lnSpc>
                <a:spcPct val="150000"/>
              </a:lnSpc>
              <a:defRPr sz="3822"/>
            </a:pPr>
            <a:r>
              <a:rPr lang="en-GB" sz="2000" b="1" dirty="0">
                <a:latin typeface="Times New Roman" panose="02020603050405020304" pitchFamily="18" charset="0"/>
                <a:cs typeface="Times New Roman" panose="02020603050405020304" pitchFamily="18" charset="0"/>
              </a:rPr>
              <a:t>Dept. of CSE (AI&amp;ML)</a:t>
            </a:r>
          </a:p>
        </p:txBody>
      </p:sp>
      <p:sp>
        <p:nvSpPr>
          <p:cNvPr id="3" name="TextBox 2">
            <a:extLst>
              <a:ext uri="{FF2B5EF4-FFF2-40B4-BE49-F238E27FC236}">
                <a16:creationId xmlns:a16="http://schemas.microsoft.com/office/drawing/2014/main" id="{FC662FBE-2DD2-84E8-1675-9B3A8A5A9542}"/>
              </a:ext>
            </a:extLst>
          </p:cNvPr>
          <p:cNvSpPr txBox="1"/>
          <p:nvPr/>
        </p:nvSpPr>
        <p:spPr>
          <a:xfrm>
            <a:off x="1223722" y="2721321"/>
            <a:ext cx="6966154" cy="584775"/>
          </a:xfrm>
          <a:prstGeom prst="rect">
            <a:avLst/>
          </a:prstGeom>
          <a:noFill/>
        </p:spPr>
        <p:txBody>
          <a:bodyPr wrap="square">
            <a:spAutoFit/>
          </a:bodyPr>
          <a:lstStyle/>
          <a:p>
            <a:pPr algn="ctr"/>
            <a:r>
              <a:rPr lang="en-US" sz="3200" b="1" dirty="0">
                <a:solidFill>
                  <a:srgbClr val="92D050"/>
                </a:solidFill>
                <a:latin typeface="Times New Roman" panose="02020603050405020304" pitchFamily="18" charset="0"/>
                <a:ea typeface="Cambria Math" panose="02040503050406030204" pitchFamily="18" charset="0"/>
                <a:cs typeface="Times New Roman" panose="02020603050405020304" pitchFamily="18" charset="0"/>
              </a:rPr>
              <a:t> “IoT-Based Smart Irrigation System”</a:t>
            </a:r>
            <a:endParaRPr lang="en-IN" sz="320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E4033151-D935-A0A8-30AD-2921342C0A8B}"/>
              </a:ext>
            </a:extLst>
          </p:cNvPr>
          <p:cNvSpPr txBox="1"/>
          <p:nvPr/>
        </p:nvSpPr>
        <p:spPr>
          <a:xfrm>
            <a:off x="2470280" y="4319806"/>
            <a:ext cx="1675738" cy="1477328"/>
          </a:xfrm>
          <a:prstGeom prst="rect">
            <a:avLst/>
          </a:prstGeom>
          <a:noFill/>
        </p:spPr>
        <p:txBody>
          <a:bodyPr wrap="square">
            <a:spAutoFit/>
          </a:bodyPr>
          <a:lstStyle/>
          <a:p>
            <a:endParaRPr lang="en-IN" b="1"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4RA24CI405</a:t>
            </a:r>
          </a:p>
          <a:p>
            <a:r>
              <a:rPr lang="en-IN" b="1" dirty="0">
                <a:latin typeface="Times New Roman" panose="02020603050405020304" pitchFamily="18" charset="0"/>
                <a:cs typeface="Times New Roman" panose="02020603050405020304" pitchFamily="18" charset="0"/>
              </a:rPr>
              <a:t>4RA24CI408</a:t>
            </a:r>
          </a:p>
          <a:p>
            <a:r>
              <a:rPr lang="en-IN" b="1" dirty="0">
                <a:latin typeface="Times New Roman" panose="02020603050405020304" pitchFamily="18" charset="0"/>
                <a:cs typeface="Times New Roman" panose="02020603050405020304" pitchFamily="18" charset="0"/>
              </a:rPr>
              <a:t>4RA23CI409</a:t>
            </a:r>
          </a:p>
          <a:p>
            <a:endParaRPr lang="en-IN" dirty="0"/>
          </a:p>
        </p:txBody>
      </p:sp>
      <p:sp>
        <p:nvSpPr>
          <p:cNvPr id="2" name="TextBox 1">
            <a:extLst>
              <a:ext uri="{FF2B5EF4-FFF2-40B4-BE49-F238E27FC236}">
                <a16:creationId xmlns:a16="http://schemas.microsoft.com/office/drawing/2014/main" id="{FF28868F-96E4-4B5E-AC93-B7155E0D329E}"/>
              </a:ext>
            </a:extLst>
          </p:cNvPr>
          <p:cNvSpPr txBox="1"/>
          <p:nvPr/>
        </p:nvSpPr>
        <p:spPr>
          <a:xfrm>
            <a:off x="1979987" y="1911817"/>
            <a:ext cx="5184023" cy="873572"/>
          </a:xfrm>
          <a:prstGeom prst="rect">
            <a:avLst/>
          </a:prstGeom>
          <a:noFill/>
        </p:spPr>
        <p:txBody>
          <a:bodyPr wrap="square" rtlCol="0">
            <a:spAutoFit/>
          </a:bodyPr>
          <a:lstStyle/>
          <a:p>
            <a:pPr algn="ctr">
              <a:lnSpc>
                <a:spcPct val="150000"/>
              </a:lnSpc>
            </a:pPr>
            <a:r>
              <a:rPr lang="en-US" dirty="0">
                <a:latin typeface="Times New Roman" panose="02020603050405020304" pitchFamily="18" charset="0"/>
                <a:cs typeface="Times New Roman" panose="02020603050405020304" pitchFamily="18" charset="0"/>
              </a:rPr>
              <a:t>A Mini Project Presentation</a:t>
            </a:r>
          </a:p>
          <a:p>
            <a:pPr algn="ctr">
              <a:lnSpc>
                <a:spcPct val="150000"/>
              </a:lnSpc>
            </a:pPr>
            <a:r>
              <a:rPr lang="en-US" dirty="0">
                <a:latin typeface="Times New Roman" panose="02020603050405020304" pitchFamily="18" charset="0"/>
                <a:cs typeface="Times New Roman" panose="02020603050405020304" pitchFamily="18" charset="0"/>
              </a:rPr>
              <a:t>On</a:t>
            </a:r>
          </a:p>
        </p:txBody>
      </p:sp>
      <p:sp>
        <p:nvSpPr>
          <p:cNvPr id="5" name="TextBox 4">
            <a:extLst>
              <a:ext uri="{FF2B5EF4-FFF2-40B4-BE49-F238E27FC236}">
                <a16:creationId xmlns:a16="http://schemas.microsoft.com/office/drawing/2014/main" id="{D9E764AF-E82D-68DF-D100-2A2296A9F74E}"/>
              </a:ext>
            </a:extLst>
          </p:cNvPr>
          <p:cNvSpPr txBox="1"/>
          <p:nvPr/>
        </p:nvSpPr>
        <p:spPr>
          <a:xfrm>
            <a:off x="563610" y="4198776"/>
            <a:ext cx="2646121" cy="369332"/>
          </a:xfrm>
          <a:prstGeom prst="rect">
            <a:avLst/>
          </a:prstGeom>
          <a:noFill/>
        </p:spPr>
        <p:txBody>
          <a:bodyPr wrap="square" rtlCol="0">
            <a:spAutoFit/>
          </a:bodyPr>
          <a:lstStyle/>
          <a:p>
            <a:r>
              <a:rPr lang="en-US" b="1" u="sng" dirty="0"/>
              <a:t>Presented By</a:t>
            </a:r>
            <a:endParaRPr lang="en-IN" b="1" u="sng" dirty="0"/>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303A7-20BD-D322-FCE7-8CC5167B3932}"/>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4BAF28C-0E83-B31A-FFED-46BB07E4ECBD}"/>
              </a:ext>
            </a:extLst>
          </p:cNvPr>
          <p:cNvSpPr txBox="1"/>
          <p:nvPr/>
        </p:nvSpPr>
        <p:spPr>
          <a:xfrm>
            <a:off x="158621" y="569167"/>
            <a:ext cx="8836090" cy="1723549"/>
          </a:xfrm>
          <a:prstGeom prst="rect">
            <a:avLst/>
          </a:prstGeom>
          <a:noFill/>
        </p:spPr>
        <p:txBody>
          <a:bodyPr wrap="square">
            <a:spAutoFit/>
          </a:bodyPr>
          <a:lstStyle/>
          <a:p>
            <a:pPr algn="ctr"/>
            <a:r>
              <a:rPr lang="en-IN" sz="3200" b="1" dirty="0">
                <a:latin typeface="Times New Roman" panose="02020603050405020304" pitchFamily="18" charset="0"/>
                <a:cs typeface="Times New Roman" panose="02020603050405020304" pitchFamily="18" charset="0"/>
              </a:rPr>
              <a:t>Abstract</a:t>
            </a:r>
          </a:p>
          <a:p>
            <a:pPr algn="ctr"/>
            <a:endParaRPr lang="en-IN" sz="3200" b="1" dirty="0">
              <a:latin typeface="Times New Roman" panose="02020603050405020304" pitchFamily="18" charset="0"/>
              <a:cs typeface="Times New Roman" panose="02020603050405020304" pitchFamily="18" charset="0"/>
            </a:endParaRPr>
          </a:p>
          <a:p>
            <a:pPr algn="ctr"/>
            <a:endParaRPr lang="en-IN" sz="1800" dirty="0"/>
          </a:p>
          <a:p>
            <a:pPr algn="ctr"/>
            <a:endParaRPr lang="en-IN" sz="24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ACB9C253-B3DB-E378-CB36-A6C2CD0F7984}"/>
              </a:ext>
            </a:extLst>
          </p:cNvPr>
          <p:cNvSpPr txBox="1"/>
          <p:nvPr/>
        </p:nvSpPr>
        <p:spPr>
          <a:xfrm>
            <a:off x="405882" y="1511559"/>
            <a:ext cx="8332235" cy="3781484"/>
          </a:xfrm>
          <a:prstGeom prst="rect">
            <a:avLst/>
          </a:prstGeom>
          <a:noFill/>
        </p:spPr>
        <p:txBody>
          <a:bodyPr wrap="square" rtlCol="0">
            <a:spAutoFit/>
          </a:bodyPr>
          <a:lstStyle/>
          <a:p>
            <a:pPr>
              <a:lnSpc>
                <a:spcPct val="150000"/>
              </a:lnSpc>
            </a:pPr>
            <a:r>
              <a:rPr lang="en-US" dirty="0">
                <a:latin typeface="Times New Roman" panose="02020603050405020304" pitchFamily="18" charset="0"/>
                <a:cs typeface="Times New Roman" panose="02020603050405020304" pitchFamily="18" charset="0"/>
              </a:rPr>
              <a:t>The Internet of Things (IoT) has introduced innovative solutions to address challenges in agriculture, particularly in water management.</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Traditional irrigation practices are often inefficient, consuming excessive water and requiring continuous human effort. </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An IoT-based smart irrigation system integrates sensors, microcontrollers, and wireless communication to monitor soil moisture, temperature, and environmental conditions in real time.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437683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7DA7B-0814-0FE3-865C-066166DA0B0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54601CB-4F0F-2BA9-5B7A-C4D236D4BF3B}"/>
              </a:ext>
            </a:extLst>
          </p:cNvPr>
          <p:cNvSpPr txBox="1"/>
          <p:nvPr/>
        </p:nvSpPr>
        <p:spPr>
          <a:xfrm>
            <a:off x="597159" y="-310485"/>
            <a:ext cx="8145625" cy="6555641"/>
          </a:xfrm>
          <a:prstGeom prst="rect">
            <a:avLst/>
          </a:prstGeom>
          <a:noFill/>
        </p:spPr>
        <p:txBody>
          <a:bodyPr wrap="square">
            <a:spAutoFit/>
          </a:bodyPr>
          <a:lstStyle/>
          <a:p>
            <a:endParaRPr lang="en-GB" sz="3600" b="1" u="sng" dirty="0">
              <a:latin typeface="Times New Roman" panose="02020603050405020304" pitchFamily="18" charset="0"/>
              <a:cs typeface="Times New Roman" panose="02020603050405020304" pitchFamily="18" charset="0"/>
            </a:endParaRPr>
          </a:p>
          <a:p>
            <a:pPr algn="ctr"/>
            <a:r>
              <a:rPr lang="en-GB" sz="3600" b="1" dirty="0">
                <a:latin typeface="Times New Roman" panose="02020603050405020304" pitchFamily="18" charset="0"/>
                <a:cs typeface="Times New Roman" panose="02020603050405020304" pitchFamily="18" charset="0"/>
              </a:rPr>
              <a:t>Contents</a:t>
            </a:r>
          </a:p>
          <a:p>
            <a:endParaRPr lang="en-GB" b="1" u="sng" dirty="0">
              <a:latin typeface="Times New Roman" panose="02020603050405020304" pitchFamily="18" charset="0"/>
              <a:cs typeface="Times New Roman" panose="02020603050405020304" pitchFamily="18" charset="0"/>
            </a:endParaRPr>
          </a:p>
          <a:p>
            <a:endParaRPr lang="en-GB" b="1" u="sng" dirty="0">
              <a:latin typeface="Times New Roman" panose="02020603050405020304" pitchFamily="18" charset="0"/>
              <a:cs typeface="Times New Roman" panose="02020603050405020304" pitchFamily="18" charset="0"/>
            </a:endParaRP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Abstract</a:t>
            </a: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Contents</a:t>
            </a: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Introduction</a:t>
            </a: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Literature Survey</a:t>
            </a: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Problem Statement</a:t>
            </a: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Existing System</a:t>
            </a: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Objectives</a:t>
            </a: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System Architecture</a:t>
            </a: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Flow Chart</a:t>
            </a: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Advantages</a:t>
            </a: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Requirements Hardware/ Software</a:t>
            </a: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Conclusion</a:t>
            </a:r>
          </a:p>
          <a:p>
            <a:pPr marL="800100" lvl="1"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References</a:t>
            </a:r>
            <a:endParaRPr lang="en-GB"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37136331"/>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8118F-1932-DBD0-68CD-240BF1635F6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120F3DF-3C96-EBDD-47C4-A9AD48F32E96}"/>
              </a:ext>
            </a:extLst>
          </p:cNvPr>
          <p:cNvSpPr txBox="1"/>
          <p:nvPr/>
        </p:nvSpPr>
        <p:spPr>
          <a:xfrm>
            <a:off x="316438" y="285436"/>
            <a:ext cx="8662220" cy="4659224"/>
          </a:xfrm>
          <a:prstGeom prst="rect">
            <a:avLst/>
          </a:prstGeom>
          <a:noFill/>
        </p:spPr>
        <p:txBody>
          <a:bodyPr wrap="square">
            <a:spAutoFit/>
          </a:bodyPr>
          <a:lstStyle/>
          <a:p>
            <a:pPr algn="ctr"/>
            <a:r>
              <a:rPr lang="en-US" sz="3600" b="1" dirty="0">
                <a:latin typeface="Times New Roman" panose="02020603050405020304" pitchFamily="18" charset="0"/>
                <a:cs typeface="Times New Roman" panose="02020603050405020304" pitchFamily="18" charset="0"/>
              </a:rPr>
              <a:t>Introduction</a:t>
            </a:r>
          </a:p>
          <a:p>
            <a:endParaRPr lang="en-US" sz="4800" b="1" dirty="0"/>
          </a:p>
          <a:p>
            <a:pPr>
              <a:lnSpc>
                <a:spcPct val="150000"/>
              </a:lnSpc>
            </a:pPr>
            <a:r>
              <a:rPr lang="en-US" dirty="0">
                <a:latin typeface="Times New Roman" panose="02020603050405020304" pitchFamily="18" charset="0"/>
                <a:cs typeface="Times New Roman" panose="02020603050405020304" pitchFamily="18" charset="0"/>
              </a:rPr>
              <a:t>Agriculture greatly relies on efficient irrigation to improve crop growth and yield. Traditional manual irrigation methods are often time-consuming, result in water wastage. The rising concern of water scarcity, there is a strong need for smart and sustainable solutions.</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IoT-based smart irrigation systems use sensors and automation to monitor soil and environmental conditions in real time. This approach minimizes water usage, reduces human effort, and ensures sustainable farming practices.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0736255"/>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3D217-138C-BE47-C360-636CA544158F}"/>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1F91599C-97E4-C9D4-4702-41E2C32459D5}"/>
              </a:ext>
            </a:extLst>
          </p:cNvPr>
          <p:cNvGraphicFramePr>
            <a:graphicFrameLocks noGrp="1"/>
          </p:cNvGraphicFramePr>
          <p:nvPr>
            <p:extLst>
              <p:ext uri="{D42A27DB-BD31-4B8C-83A1-F6EECF244321}">
                <p14:modId xmlns:p14="http://schemas.microsoft.com/office/powerpoint/2010/main" val="662054324"/>
              </p:ext>
            </p:extLst>
          </p:nvPr>
        </p:nvGraphicFramePr>
        <p:xfrm>
          <a:off x="62340" y="544499"/>
          <a:ext cx="8860923" cy="6165901"/>
        </p:xfrm>
        <a:graphic>
          <a:graphicData uri="http://schemas.openxmlformats.org/drawingml/2006/table">
            <a:tbl>
              <a:tblPr>
                <a:tableStyleId>{5DA37D80-6434-44D0-A028-1B22A696006F}</a:tableStyleId>
              </a:tblPr>
              <a:tblGrid>
                <a:gridCol w="2953641">
                  <a:extLst>
                    <a:ext uri="{9D8B030D-6E8A-4147-A177-3AD203B41FA5}">
                      <a16:colId xmlns:a16="http://schemas.microsoft.com/office/drawing/2014/main" val="2910786182"/>
                    </a:ext>
                  </a:extLst>
                </a:gridCol>
                <a:gridCol w="2621619">
                  <a:extLst>
                    <a:ext uri="{9D8B030D-6E8A-4147-A177-3AD203B41FA5}">
                      <a16:colId xmlns:a16="http://schemas.microsoft.com/office/drawing/2014/main" val="1089786724"/>
                    </a:ext>
                  </a:extLst>
                </a:gridCol>
                <a:gridCol w="3285663">
                  <a:extLst>
                    <a:ext uri="{9D8B030D-6E8A-4147-A177-3AD203B41FA5}">
                      <a16:colId xmlns:a16="http://schemas.microsoft.com/office/drawing/2014/main" val="175327364"/>
                    </a:ext>
                  </a:extLst>
                </a:gridCol>
              </a:tblGrid>
              <a:tr h="284034">
                <a:tc>
                  <a:txBody>
                    <a:bodyPr/>
                    <a:lstStyle/>
                    <a:p>
                      <a:pPr>
                        <a:buNone/>
                      </a:pPr>
                      <a:r>
                        <a:rPr lang="en-IN" sz="1400" b="1" dirty="0"/>
                        <a:t>Author(s) &amp; Year</a:t>
                      </a:r>
                      <a:endParaRPr lang="en-IN" sz="1400" dirty="0"/>
                    </a:p>
                  </a:txBody>
                  <a:tcPr marL="102733" marR="102733" marT="39659" marB="39659" anchor="ctr"/>
                </a:tc>
                <a:tc>
                  <a:txBody>
                    <a:bodyPr/>
                    <a:lstStyle/>
                    <a:p>
                      <a:pPr>
                        <a:buNone/>
                      </a:pPr>
                      <a:r>
                        <a:rPr lang="en-IN" sz="1400" b="1" dirty="0"/>
                        <a:t>Domain / Focus</a:t>
                      </a:r>
                      <a:endParaRPr lang="en-IN" sz="1400" dirty="0"/>
                    </a:p>
                  </a:txBody>
                  <a:tcPr marL="102733" marR="102733" marT="39659" marB="39659" anchor="ctr"/>
                </a:tc>
                <a:tc>
                  <a:txBody>
                    <a:bodyPr/>
                    <a:lstStyle/>
                    <a:p>
                      <a:pPr>
                        <a:buNone/>
                      </a:pPr>
                      <a:r>
                        <a:rPr lang="en-IN" sz="1400" b="1" dirty="0"/>
                        <a:t>Key Findings / Contribution</a:t>
                      </a:r>
                      <a:endParaRPr lang="en-IN" sz="1400" dirty="0"/>
                    </a:p>
                  </a:txBody>
                  <a:tcPr marL="102733" marR="102733" marT="39659" marB="39659" anchor="ctr"/>
                </a:tc>
                <a:extLst>
                  <a:ext uri="{0D108BD9-81ED-4DB2-BD59-A6C34878D82A}">
                    <a16:rowId xmlns:a16="http://schemas.microsoft.com/office/drawing/2014/main" val="1383629910"/>
                  </a:ext>
                </a:extLst>
              </a:tr>
              <a:tr h="1319329">
                <a:tc>
                  <a:txBody>
                    <a:bodyPr/>
                    <a:lstStyle/>
                    <a:p>
                      <a:pPr>
                        <a:buNone/>
                      </a:pPr>
                      <a:r>
                        <a:rPr lang="en-IN" sz="1400" dirty="0"/>
                        <a:t>Jain et al. (2016)</a:t>
                      </a:r>
                    </a:p>
                  </a:txBody>
                  <a:tcPr marL="102733" marR="102733" marT="39659" marB="39659" anchor="ctr"/>
                </a:tc>
                <a:tc>
                  <a:txBody>
                    <a:bodyPr/>
                    <a:lstStyle/>
                    <a:p>
                      <a:pPr>
                        <a:buNone/>
                      </a:pPr>
                      <a:r>
                        <a:rPr lang="en-IN" sz="1400" dirty="0"/>
                        <a:t>IoT in Agriculture</a:t>
                      </a:r>
                    </a:p>
                  </a:txBody>
                  <a:tcPr marL="102733" marR="102733" marT="39659" marB="39659" anchor="ctr"/>
                </a:tc>
                <a:tc>
                  <a:txBody>
                    <a:bodyPr/>
                    <a:lstStyle/>
                    <a:p>
                      <a:pPr algn="just">
                        <a:buNone/>
                      </a:pPr>
                      <a:r>
                        <a:rPr lang="en-US" sz="1400" dirty="0"/>
                        <a:t>Proposed a low-cost IoT irrigation system using soil moisture sensors and microcontrollers; reduced manual effort and water wastage.</a:t>
                      </a:r>
                    </a:p>
                  </a:txBody>
                  <a:tcPr marL="102733" marR="102733" marT="39659" marB="39659" anchor="ctr"/>
                </a:tc>
                <a:extLst>
                  <a:ext uri="{0D108BD9-81ED-4DB2-BD59-A6C34878D82A}">
                    <a16:rowId xmlns:a16="http://schemas.microsoft.com/office/drawing/2014/main" val="1593341660"/>
                  </a:ext>
                </a:extLst>
              </a:tr>
              <a:tr h="1112270">
                <a:tc>
                  <a:txBody>
                    <a:bodyPr/>
                    <a:lstStyle/>
                    <a:p>
                      <a:pPr>
                        <a:buNone/>
                      </a:pPr>
                      <a:r>
                        <a:rPr lang="en-IN" sz="1400" dirty="0"/>
                        <a:t>Kim &amp; Evans (2018)</a:t>
                      </a:r>
                    </a:p>
                  </a:txBody>
                  <a:tcPr marL="102733" marR="102733" marT="39659" marB="39659" anchor="ctr"/>
                </a:tc>
                <a:tc>
                  <a:txBody>
                    <a:bodyPr/>
                    <a:lstStyle/>
                    <a:p>
                      <a:pPr>
                        <a:buNone/>
                      </a:pPr>
                      <a:r>
                        <a:rPr lang="en-IN" sz="1400" dirty="0"/>
                        <a:t>Precision Irrigation</a:t>
                      </a:r>
                    </a:p>
                  </a:txBody>
                  <a:tcPr marL="102733" marR="102733" marT="39659" marB="39659" anchor="ctr"/>
                </a:tc>
                <a:tc>
                  <a:txBody>
                    <a:bodyPr/>
                    <a:lstStyle/>
                    <a:p>
                      <a:pPr>
                        <a:buNone/>
                      </a:pPr>
                      <a:r>
                        <a:rPr lang="en-US" sz="1400" dirty="0"/>
                        <a:t>Developed sensor-based irrigation scheduling; improved crop yield by optimizing water supply according to soil conditions.</a:t>
                      </a:r>
                    </a:p>
                  </a:txBody>
                  <a:tcPr marL="102733" marR="102733" marT="39659" marB="39659" anchor="ctr"/>
                </a:tc>
                <a:extLst>
                  <a:ext uri="{0D108BD9-81ED-4DB2-BD59-A6C34878D82A}">
                    <a16:rowId xmlns:a16="http://schemas.microsoft.com/office/drawing/2014/main" val="3160677602"/>
                  </a:ext>
                </a:extLst>
              </a:tr>
              <a:tr h="1112270">
                <a:tc>
                  <a:txBody>
                    <a:bodyPr/>
                    <a:lstStyle/>
                    <a:p>
                      <a:pPr>
                        <a:buNone/>
                      </a:pPr>
                      <a:r>
                        <a:rPr lang="en-IN" sz="1400" dirty="0"/>
                        <a:t>Rawal (2019)</a:t>
                      </a:r>
                    </a:p>
                  </a:txBody>
                  <a:tcPr marL="102733" marR="102733" marT="39659" marB="39659" anchor="ctr"/>
                </a:tc>
                <a:tc>
                  <a:txBody>
                    <a:bodyPr/>
                    <a:lstStyle/>
                    <a:p>
                      <a:pPr>
                        <a:buNone/>
                      </a:pPr>
                      <a:r>
                        <a:rPr lang="en-IN" sz="1400" dirty="0"/>
                        <a:t>IoT + Cloud Monitoring</a:t>
                      </a:r>
                    </a:p>
                  </a:txBody>
                  <a:tcPr marL="102733" marR="102733" marT="39659" marB="39659" anchor="ctr"/>
                </a:tc>
                <a:tc>
                  <a:txBody>
                    <a:bodyPr/>
                    <a:lstStyle/>
                    <a:p>
                      <a:pPr>
                        <a:buNone/>
                      </a:pPr>
                      <a:r>
                        <a:rPr lang="en-US" sz="1400" dirty="0"/>
                        <a:t>Introduced a cloud-based smart irrigation system using Node MCU &amp; sensors; enabled remote monitoring and real-time data storage.</a:t>
                      </a:r>
                    </a:p>
                  </a:txBody>
                  <a:tcPr marL="102733" marR="102733" marT="39659" marB="39659" anchor="ctr"/>
                </a:tc>
                <a:extLst>
                  <a:ext uri="{0D108BD9-81ED-4DB2-BD59-A6C34878D82A}">
                    <a16:rowId xmlns:a16="http://schemas.microsoft.com/office/drawing/2014/main" val="712855011"/>
                  </a:ext>
                </a:extLst>
              </a:tr>
              <a:tr h="1112270">
                <a:tc>
                  <a:txBody>
                    <a:bodyPr/>
                    <a:lstStyle/>
                    <a:p>
                      <a:pPr>
                        <a:buNone/>
                      </a:pPr>
                      <a:r>
                        <a:rPr lang="en-IN" sz="1400" dirty="0"/>
                        <a:t>Patil &amp; Kulkarni (2020)</a:t>
                      </a:r>
                    </a:p>
                  </a:txBody>
                  <a:tcPr marL="102733" marR="102733" marT="39659" marB="39659" anchor="ctr"/>
                </a:tc>
                <a:tc>
                  <a:txBody>
                    <a:bodyPr/>
                    <a:lstStyle/>
                    <a:p>
                      <a:pPr>
                        <a:buNone/>
                      </a:pPr>
                      <a:r>
                        <a:rPr lang="en-IN" sz="1400" dirty="0"/>
                        <a:t>Automation &amp; Control</a:t>
                      </a:r>
                    </a:p>
                  </a:txBody>
                  <a:tcPr marL="102733" marR="102733" marT="39659" marB="39659" anchor="ctr"/>
                </a:tc>
                <a:tc>
                  <a:txBody>
                    <a:bodyPr/>
                    <a:lstStyle/>
                    <a:p>
                      <a:pPr>
                        <a:buNone/>
                      </a:pPr>
                      <a:r>
                        <a:rPr lang="en-US" sz="1400" dirty="0"/>
                        <a:t>Demonstrated automated irrigation using IoT with mobile app integration; reduced human intervention and increased efficiency.</a:t>
                      </a:r>
                    </a:p>
                  </a:txBody>
                  <a:tcPr marL="102733" marR="102733" marT="39659" marB="39659" anchor="ctr"/>
                </a:tc>
                <a:extLst>
                  <a:ext uri="{0D108BD9-81ED-4DB2-BD59-A6C34878D82A}">
                    <a16:rowId xmlns:a16="http://schemas.microsoft.com/office/drawing/2014/main" val="4105159172"/>
                  </a:ext>
                </a:extLst>
              </a:tr>
              <a:tr h="1149388">
                <a:tc>
                  <a:txBody>
                    <a:bodyPr/>
                    <a:lstStyle/>
                    <a:p>
                      <a:pPr>
                        <a:buNone/>
                      </a:pPr>
                      <a:r>
                        <a:rPr lang="en-IN" sz="1400" dirty="0"/>
                        <a:t>Recent Studies (2021–2024)</a:t>
                      </a:r>
                    </a:p>
                  </a:txBody>
                  <a:tcPr marL="102733" marR="102733" marT="39659" marB="39659" anchor="ctr"/>
                </a:tc>
                <a:tc>
                  <a:txBody>
                    <a:bodyPr/>
                    <a:lstStyle/>
                    <a:p>
                      <a:pPr>
                        <a:buNone/>
                      </a:pPr>
                      <a:r>
                        <a:rPr lang="en-IN" sz="1400" dirty="0"/>
                        <a:t>Advanced Smart Systems</a:t>
                      </a:r>
                    </a:p>
                  </a:txBody>
                  <a:tcPr marL="102733" marR="102733" marT="39659" marB="39659" anchor="ctr"/>
                </a:tc>
                <a:tc>
                  <a:txBody>
                    <a:bodyPr/>
                    <a:lstStyle/>
                    <a:p>
                      <a:pPr>
                        <a:buNone/>
                      </a:pPr>
                      <a:r>
                        <a:rPr lang="en-US" sz="1400" dirty="0"/>
                        <a:t>Integration of IoT with AI/ML for predictive irrigation, weather-based decision-making, and water conservation; challenges remain in scalability, cost, and data security.</a:t>
                      </a:r>
                    </a:p>
                  </a:txBody>
                  <a:tcPr marL="102733" marR="102733" marT="39659" marB="39659" anchor="ctr"/>
                </a:tc>
                <a:extLst>
                  <a:ext uri="{0D108BD9-81ED-4DB2-BD59-A6C34878D82A}">
                    <a16:rowId xmlns:a16="http://schemas.microsoft.com/office/drawing/2014/main" val="1856584302"/>
                  </a:ext>
                </a:extLst>
              </a:tr>
            </a:tbl>
          </a:graphicData>
        </a:graphic>
      </p:graphicFrame>
      <p:sp>
        <p:nvSpPr>
          <p:cNvPr id="4" name="TextBox 3">
            <a:extLst>
              <a:ext uri="{FF2B5EF4-FFF2-40B4-BE49-F238E27FC236}">
                <a16:creationId xmlns:a16="http://schemas.microsoft.com/office/drawing/2014/main" id="{B8592028-30D0-476D-F804-6349EA08BAB8}"/>
              </a:ext>
            </a:extLst>
          </p:cNvPr>
          <p:cNvSpPr txBox="1"/>
          <p:nvPr/>
        </p:nvSpPr>
        <p:spPr>
          <a:xfrm>
            <a:off x="141539" y="-101832"/>
            <a:ext cx="8860923" cy="646331"/>
          </a:xfrm>
          <a:prstGeom prst="rect">
            <a:avLst/>
          </a:prstGeom>
          <a:noFill/>
        </p:spPr>
        <p:txBody>
          <a:bodyPr wrap="square">
            <a:spAutoFit/>
          </a:bodyPr>
          <a:lstStyle/>
          <a:p>
            <a:pPr algn="ctr"/>
            <a:r>
              <a:rPr lang="en-IN" sz="36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3334723742"/>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1B844-EFAE-C459-6379-9DA94ADD544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85C47E8-4A2F-EAF3-6314-B8D76E33F7F8}"/>
              </a:ext>
            </a:extLst>
          </p:cNvPr>
          <p:cNvSpPr txBox="1"/>
          <p:nvPr/>
        </p:nvSpPr>
        <p:spPr>
          <a:xfrm>
            <a:off x="0" y="74645"/>
            <a:ext cx="9209314" cy="4062651"/>
          </a:xfrm>
          <a:prstGeom prst="rect">
            <a:avLst/>
          </a:prstGeom>
          <a:noFill/>
        </p:spPr>
        <p:txBody>
          <a:bodyPr wrap="square">
            <a:spAutoFit/>
          </a:bodyPr>
          <a:lstStyle/>
          <a:p>
            <a:pPr marL="0" indent="0">
              <a:buNone/>
            </a:pPr>
            <a:r>
              <a:rPr lang="en-US" sz="3600" b="1" dirty="0">
                <a:latin typeface="Times New Roman" panose="02020603050405020304" pitchFamily="18" charset="0"/>
                <a:cs typeface="Times New Roman" panose="02020603050405020304" pitchFamily="18" charset="0"/>
              </a:rPr>
              <a:t>Problem Statement</a:t>
            </a:r>
          </a:p>
          <a:p>
            <a:pPr marL="0" indent="0">
              <a:buNone/>
            </a:pPr>
            <a:endParaRPr lang="en-US" sz="1800" dirty="0"/>
          </a:p>
          <a:p>
            <a:pPr marL="0" indent="0">
              <a:buNone/>
            </a:pPr>
            <a:endParaRPr lang="en-US" dirty="0"/>
          </a:p>
          <a:p>
            <a:pPr marL="0" indent="0">
              <a:buNone/>
            </a:pPr>
            <a:endParaRPr lang="en-US" sz="1800" dirty="0"/>
          </a:p>
          <a:p>
            <a:pPr marL="0" indent="0">
              <a:buNone/>
            </a:pPr>
            <a:r>
              <a:rPr lang="en-US" sz="2400" dirty="0"/>
              <a:t>• </a:t>
            </a:r>
            <a:r>
              <a:rPr lang="en-US" sz="2400" dirty="0">
                <a:latin typeface="Times New Roman" panose="02020603050405020304" pitchFamily="18" charset="0"/>
                <a:cs typeface="Times New Roman" panose="02020603050405020304" pitchFamily="18" charset="0"/>
              </a:rPr>
              <a:t>Manual irrigation consumes excess water.</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Climate variability makes water management difficult.</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Farmers lack real-time monitoring of soil and crops.</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Need a low-cost, automated irrigation solution.</a:t>
            </a:r>
          </a:p>
        </p:txBody>
      </p:sp>
    </p:spTree>
    <p:extLst>
      <p:ext uri="{BB962C8B-B14F-4D97-AF65-F5344CB8AC3E}">
        <p14:creationId xmlns:p14="http://schemas.microsoft.com/office/powerpoint/2010/main" val="1747734227"/>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1E3FEE-EDE7-A521-6794-DC7FF0C4847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8EDE1B7-DBC3-FACE-944A-A5495B7BDC7C}"/>
              </a:ext>
            </a:extLst>
          </p:cNvPr>
          <p:cNvSpPr txBox="1"/>
          <p:nvPr/>
        </p:nvSpPr>
        <p:spPr>
          <a:xfrm>
            <a:off x="74645" y="345600"/>
            <a:ext cx="7816555" cy="1723549"/>
          </a:xfrm>
          <a:prstGeom prst="rect">
            <a:avLst/>
          </a:prstGeom>
          <a:noFill/>
        </p:spPr>
        <p:txBody>
          <a:bodyPr wrap="square">
            <a:spAutoFit/>
          </a:bodyPr>
          <a:lstStyle/>
          <a:p>
            <a:pPr marL="0" indent="0">
              <a:buNone/>
            </a:pPr>
            <a:endParaRPr lang="en-US" sz="1800" dirty="0"/>
          </a:p>
          <a:p>
            <a:pPr marL="0" indent="0" algn="ctr">
              <a:buNone/>
            </a:pPr>
            <a:r>
              <a:rPr lang="en-US" sz="3200" b="1" dirty="0">
                <a:latin typeface="Times New Roman" panose="02020603050405020304" pitchFamily="18" charset="0"/>
                <a:cs typeface="Times New Roman" panose="02020603050405020304" pitchFamily="18" charset="0"/>
              </a:rPr>
              <a:t>Existing System</a:t>
            </a:r>
          </a:p>
          <a:p>
            <a:pPr marL="0" indent="0">
              <a:buNone/>
            </a:pPr>
            <a:endParaRPr lang="en-US" sz="3200" b="1"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FB74E70E-A6E5-C1EA-D1C8-EDAAAD097D23}"/>
              </a:ext>
            </a:extLst>
          </p:cNvPr>
          <p:cNvSpPr txBox="1"/>
          <p:nvPr/>
        </p:nvSpPr>
        <p:spPr>
          <a:xfrm>
            <a:off x="557044" y="1682430"/>
            <a:ext cx="7521355" cy="2215991"/>
          </a:xfrm>
          <a:prstGeom prst="rect">
            <a:avLst/>
          </a:prstGeom>
          <a:noFill/>
        </p:spPr>
        <p:txBody>
          <a:bodyPr wrap="square" rtlCol="0">
            <a:spAutoFit/>
          </a:bodyPr>
          <a:lstStyle/>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Manual irrigation: inefficient and inaccurate.</a:t>
            </a:r>
          </a:p>
          <a:p>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Drip irrigation: reduces wastage but not automated.</a:t>
            </a:r>
          </a:p>
          <a:p>
            <a:endParaRPr lang="en-US" sz="24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Smart irrigation systems: high cost, limited adoption.</a:t>
            </a:r>
          </a:p>
          <a:p>
            <a:endParaRPr lang="en-IN" dirty="0"/>
          </a:p>
        </p:txBody>
      </p:sp>
    </p:spTree>
    <p:extLst>
      <p:ext uri="{BB962C8B-B14F-4D97-AF65-F5344CB8AC3E}">
        <p14:creationId xmlns:p14="http://schemas.microsoft.com/office/powerpoint/2010/main" val="563242565"/>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C50136-47EF-FE51-CF65-DC5E4A70544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88A6029-4B01-E780-2C96-9134EC523AC8}"/>
              </a:ext>
            </a:extLst>
          </p:cNvPr>
          <p:cNvSpPr txBox="1"/>
          <p:nvPr/>
        </p:nvSpPr>
        <p:spPr>
          <a:xfrm>
            <a:off x="466530" y="317240"/>
            <a:ext cx="7964890" cy="523220"/>
          </a:xfrm>
          <a:prstGeom prst="rect">
            <a:avLst/>
          </a:prstGeom>
          <a:noFill/>
        </p:spPr>
        <p:txBody>
          <a:bodyPr wrap="square">
            <a:spAutoFit/>
          </a:bodyPr>
          <a:lstStyle/>
          <a:p>
            <a:pPr marL="0" indent="0" algn="ctr">
              <a:buNone/>
            </a:pPr>
            <a:r>
              <a:rPr lang="en-US" sz="2800" b="1" dirty="0">
                <a:latin typeface="Times New Roman" panose="02020603050405020304" pitchFamily="18" charset="0"/>
                <a:cs typeface="Times New Roman" panose="02020603050405020304" pitchFamily="18" charset="0"/>
              </a:rPr>
              <a:t>Objectives</a:t>
            </a:r>
          </a:p>
        </p:txBody>
      </p:sp>
      <p:sp>
        <p:nvSpPr>
          <p:cNvPr id="6" name="TextBox 5">
            <a:extLst>
              <a:ext uri="{FF2B5EF4-FFF2-40B4-BE49-F238E27FC236}">
                <a16:creationId xmlns:a16="http://schemas.microsoft.com/office/drawing/2014/main" id="{A2C08405-F219-DFE6-9DCD-305715910964}"/>
              </a:ext>
            </a:extLst>
          </p:cNvPr>
          <p:cNvSpPr txBox="1"/>
          <p:nvPr/>
        </p:nvSpPr>
        <p:spPr>
          <a:xfrm>
            <a:off x="541176" y="1716833"/>
            <a:ext cx="8266921" cy="2585323"/>
          </a:xfrm>
          <a:prstGeom prst="rect">
            <a:avLst/>
          </a:prstGeom>
          <a:noFill/>
        </p:spPr>
        <p:txBody>
          <a:bodyPr wrap="square" rtlCol="0">
            <a:spAutoFit/>
          </a:bodyPr>
          <a:lstStyle/>
          <a:p>
            <a:pPr marL="285750" lvl="0" indent="-285750" defTabSz="914400" eaLnBrk="0" fontAlgn="base" hangingPunct="0">
              <a:lnSpc>
                <a:spcPct val="20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To design an IoT-based smart irrigation system for efficient water management.</a:t>
            </a:r>
          </a:p>
          <a:p>
            <a:pPr marL="285750" lvl="0" indent="-285750" defTabSz="914400" eaLnBrk="0" fontAlgn="base" hangingPunct="0">
              <a:lnSpc>
                <a:spcPct val="20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To monitor soil moisture and environmental conditions in real time.</a:t>
            </a:r>
          </a:p>
          <a:p>
            <a:pPr marL="285750" lvl="0" indent="-285750" defTabSz="914400" eaLnBrk="0" fontAlgn="base" hangingPunct="0">
              <a:lnSpc>
                <a:spcPct val="20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To minimize water wastage by supplying water only when required.</a:t>
            </a:r>
          </a:p>
          <a:p>
            <a:pPr marL="285750" lvl="0" indent="-285750" defTabSz="914400" eaLnBrk="0" fontAlgn="base" hangingPunct="0">
              <a:lnSpc>
                <a:spcPct val="200000"/>
              </a:lnSpc>
              <a:spcBef>
                <a:spcPct val="0"/>
              </a:spcBef>
              <a:spcAft>
                <a:spcPct val="0"/>
              </a:spcAft>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To improve crop productivity and support sustainable farming practices.</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2466517629"/>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948A0-CD08-7A64-E2A8-412A40FEC3E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A66B156-A5CD-C583-4D66-482DE7FD20FC}"/>
              </a:ext>
            </a:extLst>
          </p:cNvPr>
          <p:cNvSpPr txBox="1"/>
          <p:nvPr/>
        </p:nvSpPr>
        <p:spPr>
          <a:xfrm>
            <a:off x="130629" y="249208"/>
            <a:ext cx="8901404" cy="646331"/>
          </a:xfrm>
          <a:prstGeom prst="rect">
            <a:avLst/>
          </a:prstGeom>
          <a:noFill/>
        </p:spPr>
        <p:txBody>
          <a:bodyPr wrap="square">
            <a:spAutoFit/>
          </a:bodyPr>
          <a:lstStyle/>
          <a:p>
            <a:pPr algn="ctr"/>
            <a:r>
              <a:rPr lang="en-IN" sz="3600" b="1" dirty="0">
                <a:latin typeface="Times New Roman" panose="02020603050405020304" pitchFamily="18" charset="0"/>
                <a:cs typeface="Times New Roman" panose="02020603050405020304" pitchFamily="18" charset="0"/>
              </a:rPr>
              <a:t>System Architecture</a:t>
            </a:r>
          </a:p>
        </p:txBody>
      </p:sp>
      <p:pic>
        <p:nvPicPr>
          <p:cNvPr id="2050" name="Picture 2" descr="Circuit Diagram for IoT based Smart Irrigation System using Soil Moisture Sensor and ESP8266 NodeMCU">
            <a:extLst>
              <a:ext uri="{FF2B5EF4-FFF2-40B4-BE49-F238E27FC236}">
                <a16:creationId xmlns:a16="http://schemas.microsoft.com/office/drawing/2014/main" id="{59F90568-4F76-9C13-BDEB-A430940B4A2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680"/>
          <a:stretch>
            <a:fillRect/>
          </a:stretch>
        </p:blipFill>
        <p:spPr bwMode="auto">
          <a:xfrm>
            <a:off x="560388" y="1073019"/>
            <a:ext cx="8021637" cy="5374433"/>
          </a:xfrm>
          <a:prstGeom prst="rect">
            <a:avLst/>
          </a:prstGeom>
          <a:noFill/>
          <a:ln>
            <a:solidFill>
              <a:schemeClr val="bg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0771032"/>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258B0-3F3E-1797-A319-D0125FDF7F9F}"/>
            </a:ext>
          </a:extLst>
        </p:cNvPr>
        <p:cNvGrpSpPr/>
        <p:nvPr/>
      </p:nvGrpSpPr>
      <p:grpSpPr>
        <a:xfrm>
          <a:off x="0" y="0"/>
          <a:ext cx="0" cy="0"/>
          <a:chOff x="0" y="0"/>
          <a:chExt cx="0" cy="0"/>
        </a:xfrm>
      </p:grpSpPr>
      <p:sp>
        <p:nvSpPr>
          <p:cNvPr id="2" name="AutoShape 2" descr="Output image">
            <a:extLst>
              <a:ext uri="{FF2B5EF4-FFF2-40B4-BE49-F238E27FC236}">
                <a16:creationId xmlns:a16="http://schemas.microsoft.com/office/drawing/2014/main" id="{69C54710-1FAD-EF95-8B86-1C57BB2C7E97}"/>
              </a:ext>
            </a:extLst>
          </p:cNvPr>
          <p:cNvSpPr>
            <a:spLocks noChangeAspect="1" noChangeArrowheads="1"/>
          </p:cNvSpPr>
          <p:nvPr/>
        </p:nvSpPr>
        <p:spPr bwMode="auto">
          <a:xfrm>
            <a:off x="0" y="522288"/>
            <a:ext cx="9144000" cy="581183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3" name="AutoShape 4" descr="Output image">
            <a:extLst>
              <a:ext uri="{FF2B5EF4-FFF2-40B4-BE49-F238E27FC236}">
                <a16:creationId xmlns:a16="http://schemas.microsoft.com/office/drawing/2014/main" id="{90C07EBC-1647-CF0E-43A7-99F0416C1FA1}"/>
              </a:ext>
            </a:extLst>
          </p:cNvPr>
          <p:cNvSpPr>
            <a:spLocks noChangeAspect="1" noChangeArrowheads="1"/>
          </p:cNvSpPr>
          <p:nvPr/>
        </p:nvSpPr>
        <p:spPr bwMode="auto">
          <a:xfrm>
            <a:off x="625150" y="674688"/>
            <a:ext cx="7875037" cy="581183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7" name="TextBox 6">
            <a:extLst>
              <a:ext uri="{FF2B5EF4-FFF2-40B4-BE49-F238E27FC236}">
                <a16:creationId xmlns:a16="http://schemas.microsoft.com/office/drawing/2014/main" id="{52072768-1BF8-7E43-8251-CEA90716D23E}"/>
              </a:ext>
            </a:extLst>
          </p:cNvPr>
          <p:cNvSpPr txBox="1"/>
          <p:nvPr/>
        </p:nvSpPr>
        <p:spPr>
          <a:xfrm>
            <a:off x="285369" y="229900"/>
            <a:ext cx="8858631" cy="584775"/>
          </a:xfrm>
          <a:prstGeom prst="rect">
            <a:avLst/>
          </a:prstGeom>
          <a:noFill/>
        </p:spPr>
        <p:txBody>
          <a:bodyPr wrap="square">
            <a:spAutoFit/>
          </a:bodyPr>
          <a:lstStyle/>
          <a:p>
            <a:pPr>
              <a:buNone/>
            </a:pPr>
            <a:r>
              <a:rPr lang="en-IN" sz="3200" b="1" dirty="0">
                <a:latin typeface="Times New Roman" panose="02020603050405020304" pitchFamily="18" charset="0"/>
                <a:cs typeface="Times New Roman" panose="02020603050405020304" pitchFamily="18" charset="0"/>
              </a:rPr>
              <a:t>Flowchart for IoT-Based Smart Irrigation System</a:t>
            </a:r>
          </a:p>
        </p:txBody>
      </p:sp>
      <p:pic>
        <p:nvPicPr>
          <p:cNvPr id="8" name="Picture 7">
            <a:extLst>
              <a:ext uri="{FF2B5EF4-FFF2-40B4-BE49-F238E27FC236}">
                <a16:creationId xmlns:a16="http://schemas.microsoft.com/office/drawing/2014/main" id="{E3CE5B6A-B846-8A3F-D24F-5564492FC732}"/>
              </a:ext>
            </a:extLst>
          </p:cNvPr>
          <p:cNvPicPr>
            <a:picLocks noChangeAspect="1"/>
          </p:cNvPicPr>
          <p:nvPr/>
        </p:nvPicPr>
        <p:blipFill>
          <a:blip r:embed="rId3"/>
          <a:stretch>
            <a:fillRect/>
          </a:stretch>
        </p:blipFill>
        <p:spPr>
          <a:xfrm>
            <a:off x="1814512" y="967074"/>
            <a:ext cx="5514975" cy="5509925"/>
          </a:xfrm>
          <a:prstGeom prst="rect">
            <a:avLst/>
          </a:prstGeom>
        </p:spPr>
      </p:pic>
    </p:spTree>
    <p:extLst>
      <p:ext uri="{BB962C8B-B14F-4D97-AF65-F5344CB8AC3E}">
        <p14:creationId xmlns:p14="http://schemas.microsoft.com/office/powerpoint/2010/main" val="1228657992"/>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76A84-D393-852F-1834-1577DD8288E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8BBA0F4-C98A-ECE3-C846-F7EECF2E7F91}"/>
              </a:ext>
            </a:extLst>
          </p:cNvPr>
          <p:cNvSpPr txBox="1"/>
          <p:nvPr/>
        </p:nvSpPr>
        <p:spPr>
          <a:xfrm>
            <a:off x="550505" y="419878"/>
            <a:ext cx="8024327" cy="3724096"/>
          </a:xfrm>
          <a:prstGeom prst="rect">
            <a:avLst/>
          </a:prstGeom>
          <a:noFill/>
        </p:spPr>
        <p:txBody>
          <a:bodyPr wrap="square">
            <a:spAutoFit/>
          </a:bodyPr>
          <a:lstStyle/>
          <a:p>
            <a:pPr marL="0" indent="0" algn="ctr">
              <a:buNone/>
            </a:pPr>
            <a:r>
              <a:rPr lang="en-US" sz="3600" b="1" dirty="0">
                <a:latin typeface="Times New Roman" panose="02020603050405020304" pitchFamily="18" charset="0"/>
                <a:cs typeface="Times New Roman" panose="02020603050405020304" pitchFamily="18" charset="0"/>
              </a:rPr>
              <a:t>Advantages</a:t>
            </a: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endParaRPr lang="en-US" sz="16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Reduces water wastage.</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Improves crop yield and health.</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Low cost and scalable solution.</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  Provides real-time IoT-based monitoring.</a:t>
            </a:r>
          </a:p>
        </p:txBody>
      </p:sp>
    </p:spTree>
    <p:extLst>
      <p:ext uri="{BB962C8B-B14F-4D97-AF65-F5344CB8AC3E}">
        <p14:creationId xmlns:p14="http://schemas.microsoft.com/office/powerpoint/2010/main" val="1339151699"/>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9CD33C-C462-5B44-377F-CF9827076D0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B2808B2-8C75-47DB-FB0E-D0FA16DD04E8}"/>
              </a:ext>
            </a:extLst>
          </p:cNvPr>
          <p:cNvSpPr txBox="1"/>
          <p:nvPr/>
        </p:nvSpPr>
        <p:spPr>
          <a:xfrm>
            <a:off x="830423" y="135791"/>
            <a:ext cx="7408507" cy="7017306"/>
          </a:xfrm>
          <a:prstGeom prst="rect">
            <a:avLst/>
          </a:prstGeom>
          <a:noFill/>
        </p:spPr>
        <p:txBody>
          <a:bodyPr wrap="square">
            <a:spAutoFit/>
          </a:bodyPr>
          <a:lstStyle/>
          <a:p>
            <a:pPr marL="0" indent="0" algn="ctr">
              <a:buNone/>
            </a:pPr>
            <a:r>
              <a:rPr lang="en-IN" sz="3600" b="1" dirty="0">
                <a:latin typeface="Times New Roman" panose="02020603050405020304" pitchFamily="18" charset="0"/>
                <a:cs typeface="Times New Roman" panose="02020603050405020304" pitchFamily="18" charset="0"/>
              </a:rPr>
              <a:t>Requirements   </a:t>
            </a:r>
            <a:r>
              <a:rPr lang="en-IN" sz="2400" dirty="0">
                <a:latin typeface="Times New Roman" panose="02020603050405020304" pitchFamily="18" charset="0"/>
                <a:cs typeface="Times New Roman" panose="02020603050405020304" pitchFamily="18" charset="0"/>
              </a:rPr>
              <a:t>                                                      </a:t>
            </a:r>
          </a:p>
          <a:p>
            <a:pPr marL="0" indent="0">
              <a:buNone/>
            </a:pPr>
            <a:endParaRPr lang="en-IN" sz="2400" dirty="0">
              <a:latin typeface="Times New Roman" panose="02020603050405020304" pitchFamily="18" charset="0"/>
              <a:cs typeface="Times New Roman" panose="02020603050405020304" pitchFamily="18" charset="0"/>
            </a:endParaRPr>
          </a:p>
          <a:p>
            <a:pPr marL="0" indent="0">
              <a:lnSpc>
                <a:spcPct val="150000"/>
              </a:lnSpc>
              <a:buNone/>
            </a:pPr>
            <a:r>
              <a:rPr lang="en-IN" altLang="en-US" sz="2800" u="sng" dirty="0">
                <a:latin typeface="Times New Roman" panose="02020603050405020304" pitchFamily="18" charset="0"/>
                <a:cs typeface="Times New Roman" panose="02020603050405020304" pitchFamily="18" charset="0"/>
              </a:rPr>
              <a:t>Hardware Components :</a:t>
            </a:r>
          </a:p>
          <a:p>
            <a:pPr marL="0" indent="0">
              <a:lnSpc>
                <a:spcPct val="150000"/>
              </a:lnSpc>
              <a:buNone/>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ArduinoMCU</a:t>
            </a:r>
            <a:r>
              <a:rPr lang="en-IN" sz="2400" dirty="0">
                <a:latin typeface="Times New Roman" panose="02020603050405020304" pitchFamily="18" charset="0"/>
                <a:cs typeface="Times New Roman" panose="02020603050405020304" pitchFamily="18" charset="0"/>
              </a:rPr>
              <a:t> ESP8266 (Wi-Fi Microcontroller).</a:t>
            </a:r>
          </a:p>
          <a:p>
            <a:pPr marL="0" indent="0">
              <a:buNone/>
            </a:pPr>
            <a:r>
              <a:rPr lang="en-IN" sz="2400" dirty="0">
                <a:latin typeface="Times New Roman" panose="02020603050405020304" pitchFamily="18" charset="0"/>
                <a:cs typeface="Times New Roman" panose="02020603050405020304" pitchFamily="18" charset="0"/>
              </a:rPr>
              <a:t>• Soil Moisture Sensor.</a:t>
            </a:r>
          </a:p>
          <a:p>
            <a:pPr marL="0" indent="0">
              <a:buNone/>
            </a:pPr>
            <a:r>
              <a:rPr lang="en-IN" sz="2400" dirty="0">
                <a:latin typeface="Times New Roman" panose="02020603050405020304" pitchFamily="18" charset="0"/>
                <a:cs typeface="Times New Roman" panose="02020603050405020304" pitchFamily="18" charset="0"/>
              </a:rPr>
              <a:t>• DHT11 Sensor (Temperature &amp; Humidity).</a:t>
            </a:r>
          </a:p>
          <a:p>
            <a:pPr marL="0" indent="0">
              <a:buNone/>
            </a:pPr>
            <a:r>
              <a:rPr lang="en-IN" sz="2400" dirty="0">
                <a:latin typeface="Times New Roman" panose="02020603050405020304" pitchFamily="18" charset="0"/>
                <a:cs typeface="Times New Roman" panose="02020603050405020304" pitchFamily="18" charset="0"/>
              </a:rPr>
              <a:t>• Relay Module.</a:t>
            </a:r>
          </a:p>
          <a:p>
            <a:pPr marL="0" indent="0">
              <a:buNone/>
            </a:pPr>
            <a:r>
              <a:rPr lang="en-IN" sz="2400" dirty="0">
                <a:latin typeface="Times New Roman" panose="02020603050405020304" pitchFamily="18" charset="0"/>
                <a:cs typeface="Times New Roman" panose="02020603050405020304" pitchFamily="18" charset="0"/>
              </a:rPr>
              <a:t>• Water Pump &amp; Power Supply.</a:t>
            </a:r>
          </a:p>
          <a:p>
            <a:pPr lvl="0" eaLnBrk="0" fontAlgn="base" hangingPunct="0">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lvl="0" eaLnBrk="0" fontAlgn="base" hangingPunct="0">
              <a:lnSpc>
                <a:spcPct val="150000"/>
              </a:lnSpc>
              <a:spcBef>
                <a:spcPct val="0"/>
              </a:spcBef>
              <a:spcAft>
                <a:spcPct val="0"/>
              </a:spcAft>
            </a:pPr>
            <a:r>
              <a:rPr lang="en-US" altLang="en-US" sz="2800" u="sng" dirty="0">
                <a:latin typeface="Times New Roman" panose="02020603050405020304" pitchFamily="18" charset="0"/>
                <a:cs typeface="Times New Roman" panose="02020603050405020304" pitchFamily="18" charset="0"/>
              </a:rPr>
              <a:t>Software Components :</a:t>
            </a:r>
          </a:p>
          <a:p>
            <a:pPr>
              <a:lnSpc>
                <a:spcPct val="150000"/>
              </a:lnSpc>
            </a:pPr>
            <a:r>
              <a:rPr lang="en-US" sz="2400" dirty="0">
                <a:latin typeface="Times New Roman" panose="02020603050405020304" pitchFamily="18" charset="0"/>
                <a:cs typeface="Times New Roman" panose="02020603050405020304" pitchFamily="18" charset="0"/>
              </a:rPr>
              <a:t>• Arduino IDE (Programming).</a:t>
            </a:r>
          </a:p>
          <a:p>
            <a:r>
              <a:rPr lang="en-US" sz="2400" dirty="0">
                <a:latin typeface="Times New Roman" panose="02020603050405020304" pitchFamily="18" charset="0"/>
                <a:cs typeface="Times New Roman" panose="02020603050405020304" pitchFamily="18" charset="0"/>
              </a:rPr>
              <a:t>• Thing Speak Cloud (Data Monitoring).</a:t>
            </a:r>
          </a:p>
          <a:p>
            <a:r>
              <a:rPr lang="en-US" sz="2400" dirty="0">
                <a:latin typeface="Times New Roman" panose="02020603050405020304" pitchFamily="18" charset="0"/>
                <a:cs typeface="Times New Roman" panose="02020603050405020304" pitchFamily="18" charset="0"/>
              </a:rPr>
              <a:t>• Embedded C / C++ for coding.</a:t>
            </a:r>
          </a:p>
          <a:p>
            <a:r>
              <a:rPr lang="en-US" sz="2400" dirty="0">
                <a:latin typeface="Times New Roman" panose="02020603050405020304" pitchFamily="18" charset="0"/>
                <a:cs typeface="Times New Roman" panose="02020603050405020304" pitchFamily="18" charset="0"/>
              </a:rPr>
              <a:t>• Internet connectivity for </a:t>
            </a:r>
            <a:r>
              <a:rPr lang="en-US" sz="2400" dirty="0" err="1">
                <a:latin typeface="Times New Roman" panose="02020603050405020304" pitchFamily="18" charset="0"/>
                <a:cs typeface="Times New Roman" panose="02020603050405020304" pitchFamily="18" charset="0"/>
              </a:rPr>
              <a:t>ArduinoMCU</a:t>
            </a:r>
            <a:endParaRPr lang="en-US" altLang="en-US" sz="2400" u="sng"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endParaRPr lang="en-US" altLang="en-US" sz="2400" u="sng"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4465046"/>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999167-E94F-D9A9-30D6-C6E0731CCFA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3E37980-D34E-09D5-B15C-76A27F565CA7}"/>
              </a:ext>
            </a:extLst>
          </p:cNvPr>
          <p:cNvSpPr txBox="1"/>
          <p:nvPr/>
        </p:nvSpPr>
        <p:spPr>
          <a:xfrm>
            <a:off x="485191" y="307910"/>
            <a:ext cx="8154955" cy="5570756"/>
          </a:xfrm>
          <a:prstGeom prst="rect">
            <a:avLst/>
          </a:prstGeom>
          <a:noFill/>
        </p:spPr>
        <p:txBody>
          <a:bodyPr wrap="square">
            <a:spAutoFit/>
          </a:bodyPr>
          <a:lstStyle/>
          <a:p>
            <a:pPr marL="0" indent="0" algn="ctr">
              <a:buNone/>
            </a:pPr>
            <a:r>
              <a:rPr lang="en-US" sz="3600" b="1" dirty="0">
                <a:latin typeface="Times New Roman" panose="02020603050405020304" pitchFamily="18" charset="0"/>
                <a:cs typeface="Times New Roman" panose="02020603050405020304" pitchFamily="18" charset="0"/>
              </a:rPr>
              <a:t>Conclusion</a:t>
            </a:r>
          </a:p>
          <a:p>
            <a:pPr marL="0" indent="0">
              <a:buNone/>
            </a:pPr>
            <a:endParaRPr lang="en-US" sz="1600" dirty="0"/>
          </a:p>
          <a:p>
            <a:pPr marL="0" indent="0">
              <a:buNone/>
            </a:pPr>
            <a:endParaRPr lang="en-US" sz="1600" dirty="0"/>
          </a:p>
          <a:p>
            <a:pPr>
              <a:lnSpc>
                <a:spcPct val="150000"/>
              </a:lnSpc>
            </a:pPr>
            <a:r>
              <a:rPr lang="en-US" dirty="0"/>
              <a:t>The implementation of the IoT-based smart irrigation system successfully demonstrates the use of sensors and automation for efficient water management. By continuously monitoring soil moisture and environmental parameters, the system automatically controls the water pump based on real-time needs.</a:t>
            </a:r>
          </a:p>
          <a:p>
            <a:pPr>
              <a:lnSpc>
                <a:spcPct val="150000"/>
              </a:lnSpc>
            </a:pPr>
            <a:endParaRPr lang="en-US" dirty="0"/>
          </a:p>
          <a:p>
            <a:pPr>
              <a:lnSpc>
                <a:spcPct val="150000"/>
              </a:lnSpc>
            </a:pPr>
            <a:r>
              <a:rPr lang="en-US" dirty="0"/>
              <a:t>This reduces manual intervention, minimizes water wastage, and ensures timely irrigation for crops. The practical setup highlights how IoT technology can be applied in agriculture to improve productivity and sustainability.</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6583259"/>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A2392-A3DE-31CA-319E-346E98B5025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13FB2D09-E031-6E19-7CE2-FD3D8214675A}"/>
              </a:ext>
            </a:extLst>
          </p:cNvPr>
          <p:cNvSpPr txBox="1"/>
          <p:nvPr/>
        </p:nvSpPr>
        <p:spPr>
          <a:xfrm>
            <a:off x="587829" y="475860"/>
            <a:ext cx="8014995" cy="4985980"/>
          </a:xfrm>
          <a:prstGeom prst="rect">
            <a:avLst/>
          </a:prstGeom>
          <a:noFill/>
        </p:spPr>
        <p:txBody>
          <a:bodyPr wrap="square">
            <a:spAutoFit/>
          </a:bodyPr>
          <a:lstStyle/>
          <a:p>
            <a:pPr lvl="0" algn="ctr" eaLnBrk="0" fontAlgn="base" hangingPunct="0">
              <a:spcBef>
                <a:spcPct val="0"/>
              </a:spcBef>
              <a:spcAft>
                <a:spcPct val="0"/>
              </a:spcAft>
            </a:pPr>
            <a:r>
              <a:rPr lang="en-IN" sz="3600" b="1" dirty="0">
                <a:latin typeface="Times New Roman" panose="02020603050405020304" pitchFamily="18" charset="0"/>
                <a:cs typeface="Times New Roman" panose="02020603050405020304" pitchFamily="18" charset="0"/>
              </a:rPr>
              <a:t>References</a:t>
            </a:r>
            <a:endParaRPr kumimoji="0" lang="en-US" altLang="en-US" sz="3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Jain et al. (2016) – Proposed a low-cost IoT irrigation system with soil sensors and microcontroller.</a:t>
            </a:r>
          </a:p>
          <a:p>
            <a:pPr marL="0" marR="0" lvl="0" indent="0" algn="just"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Rawal (2019) – Designed a cloud-based irrigation system using Node MCU for real-time monitoring.</a:t>
            </a:r>
          </a:p>
          <a:p>
            <a:pPr marR="0" lvl="0" algn="just" defTabSz="914400" rtl="0" eaLnBrk="0" fontAlgn="base" latinLnBrk="0" hangingPunct="0">
              <a:lnSpc>
                <a:spcPct val="100000"/>
              </a:lnSpc>
              <a:spcBef>
                <a:spcPct val="0"/>
              </a:spcBef>
              <a:spcAft>
                <a:spcPct val="0"/>
              </a:spcAft>
              <a:buClrTx/>
              <a:buSzTx/>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Patil &amp; Kulkarni (2020) – Made an automated irrigation system with IoT and mobile app control.</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2400" dirty="0">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Recent studies (2021–2024) – Focus on IoT + AI/ML for predictive irrigation and water-saving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718667429"/>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31B09-4CC1-A722-336A-3989FF19530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1B2D0E6-A02A-F45A-57B6-2A0B923C64E5}"/>
              </a:ext>
            </a:extLst>
          </p:cNvPr>
          <p:cNvSpPr txBox="1"/>
          <p:nvPr/>
        </p:nvSpPr>
        <p:spPr>
          <a:xfrm>
            <a:off x="2286000" y="2828835"/>
            <a:ext cx="4572000" cy="1200329"/>
          </a:xfrm>
          <a:prstGeom prst="rect">
            <a:avLst/>
          </a:prstGeom>
          <a:noFill/>
        </p:spPr>
        <p:txBody>
          <a:bodyPr wrap="square">
            <a:spAutoFit/>
          </a:bodyPr>
          <a:lstStyle/>
          <a:p>
            <a:pPr algn="ctr"/>
            <a:r>
              <a:rPr lang="en-IN" sz="7200" b="1" u="sng" dirty="0">
                <a:latin typeface="Times New Roman" panose="02020603050405020304" pitchFamily="18" charset="0"/>
                <a:cs typeface="Times New Roman" panose="02020603050405020304" pitchFamily="18" charset="0"/>
              </a:rPr>
              <a:t>Thank You </a:t>
            </a:r>
          </a:p>
        </p:txBody>
      </p:sp>
    </p:spTree>
    <p:extLst>
      <p:ext uri="{BB962C8B-B14F-4D97-AF65-F5344CB8AC3E}">
        <p14:creationId xmlns:p14="http://schemas.microsoft.com/office/powerpoint/2010/main" val="2080271009"/>
      </p:ext>
    </p:extLst>
  </p:cSld>
  <p:clrMapOvr>
    <a:masterClrMapping/>
  </p:clrMapOvr>
  <p:transition spd="slow">
    <p:wipe/>
  </p:transition>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TM04033937[[fn=Vapor Trail]]</Template>
  <TotalTime>436</TotalTime>
  <Words>787</Words>
  <Application>Microsoft Office PowerPoint</Application>
  <PresentationFormat>On-screen Show (4:3)</PresentationFormat>
  <Paragraphs>148</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Century Gothic</vt:lpstr>
      <vt:lpstr>Times New Roman</vt:lpstr>
      <vt:lpstr>Vapor Trail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Shashank</dc:creator>
  <cp:keywords/>
  <dc:description>generated using python-pptx</dc:description>
  <cp:lastModifiedBy>Shashank B M</cp:lastModifiedBy>
  <cp:revision>13</cp:revision>
  <dcterms:created xsi:type="dcterms:W3CDTF">2013-01-27T09:14:16Z</dcterms:created>
  <dcterms:modified xsi:type="dcterms:W3CDTF">2025-09-12T16:25:36Z</dcterms:modified>
  <cp:category/>
</cp:coreProperties>
</file>